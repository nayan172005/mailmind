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8" r:id="rId10"/>
    <p:sldId id="270" r:id="rId11"/>
    <p:sldId id="264" r:id="rId12"/>
    <p:sldId id="265" r:id="rId13"/>
    <p:sldId id="271" r:id="rId14"/>
    <p:sldId id="267" r:id="rId15"/>
    <p:sldId id="26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63CF3A-AB5B-41C7-AB9E-9311E1B4032C}" v="29" dt="2026-09-01T17:56:22.4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429375"/>
            <a:ext cx="11049000" cy="2381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83483" y="1988691"/>
            <a:ext cx="5025032" cy="3037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92"/>
              </a:lnSpc>
            </a:pPr>
            <a:r>
              <a:rPr sz="1650" b="1" i="0" u="none" dirty="0">
                <a:solidFill>
                  <a:srgbClr val="003366"/>
                </a:solidFill>
                <a:latin typeface="Times New Roman"/>
              </a:rPr>
              <a:t>Programme: </a:t>
            </a:r>
            <a:r>
              <a:rPr sz="1650" b="1" i="0" u="none" dirty="0" err="1">
                <a:solidFill>
                  <a:srgbClr val="003366"/>
                </a:solidFill>
                <a:latin typeface="Times New Roman"/>
              </a:rPr>
              <a:t>B.Tech</a:t>
            </a:r>
            <a:r>
              <a:rPr sz="1650" b="1" i="0" u="none" dirty="0">
                <a:solidFill>
                  <a:srgbClr val="003366"/>
                </a:solidFill>
                <a:latin typeface="Times New Roman"/>
              </a:rPr>
              <a:t>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12046" y="2723842"/>
            <a:ext cx="2923877" cy="2329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0" i="0" u="none" dirty="0">
                <a:solidFill>
                  <a:srgbClr val="444444"/>
                </a:solidFill>
                <a:latin typeface="Times New Roman"/>
              </a:rPr>
              <a:t>CSE4019 – Capstone Project | Review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2510" y="3477517"/>
            <a:ext cx="8386829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060"/>
              </a:lnSpc>
            </a:pPr>
            <a:r>
              <a:rPr sz="2550" b="1" i="0" u="none">
                <a:solidFill>
                  <a:srgbClr val="111111"/>
                </a:solidFill>
                <a:latin typeface="Times New Roman"/>
              </a:rPr>
              <a:t>Intelligent Email Summarization &amp; Info Retrieval System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076214"/>
              </p:ext>
            </p:extLst>
          </p:nvPr>
        </p:nvGraphicFramePr>
        <p:xfrm>
          <a:off x="1952625" y="3980901"/>
          <a:ext cx="8286749" cy="20634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0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6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1512">
                <a:tc>
                  <a:txBody>
                    <a:bodyPr/>
                    <a:lstStyle/>
                    <a:p>
                      <a:pPr algn="r"/>
                      <a:r>
                        <a:rPr sz="1600" b="1" i="0" u="none" dirty="0">
                          <a:solidFill>
                            <a:srgbClr val="000000"/>
                          </a:solidFill>
                          <a:latin typeface="Times New Roman"/>
                        </a:rPr>
                        <a:t>Team Members: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IN" sz="1600" b="0" i="0" u="non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  <a:p>
                      <a:pPr algn="l"/>
                      <a:endParaRPr lang="en-IN" sz="1600" b="0" i="0" u="none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  <a:p>
                      <a:pPr algn="l"/>
                      <a:r>
                        <a:rPr sz="1600" b="0" i="0" u="none" dirty="0">
                          <a:solidFill>
                            <a:srgbClr val="000000"/>
                          </a:solidFill>
                          <a:latin typeface="Times New Roman"/>
                        </a:rPr>
                        <a:t>Amil Mahajan (23BKT0027)</a:t>
                      </a:r>
                      <a:r>
                        <a:rPr sz="2000" dirty="0"/>
                        <a:t>
</a:t>
                      </a:r>
                      <a:r>
                        <a:rPr sz="1600" b="0" i="0" u="none" dirty="0">
                          <a:solidFill>
                            <a:srgbClr val="000000"/>
                          </a:solidFill>
                          <a:latin typeface="Times New Roman"/>
                        </a:rPr>
                        <a:t>Nayan Sharma (2</a:t>
                      </a:r>
                      <a:r>
                        <a:rPr lang="en-IN" sz="1600" b="0" i="0" u="none" dirty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r>
                        <a:rPr sz="1600" b="0" i="0" u="none" dirty="0">
                          <a:solidFill>
                            <a:srgbClr val="000000"/>
                          </a:solidFill>
                          <a:latin typeface="Times New Roman"/>
                        </a:rPr>
                        <a:t>BCE</a:t>
                      </a:r>
                      <a:r>
                        <a:rPr lang="en-IN" sz="1600" b="0" i="0" u="none" dirty="0">
                          <a:solidFill>
                            <a:srgbClr val="000000"/>
                          </a:solidFill>
                          <a:latin typeface="Times New Roman"/>
                        </a:rPr>
                        <a:t>0779</a:t>
                      </a:r>
                      <a:r>
                        <a:rPr sz="1600" b="0" i="0" u="none" dirty="0">
                          <a:solidFill>
                            <a:srgbClr val="000000"/>
                          </a:solidFill>
                          <a:latin typeface="Times New Roman"/>
                        </a:rPr>
                        <a:t>)</a:t>
                      </a:r>
                      <a:r>
                        <a:rPr sz="2000" dirty="0"/>
                        <a:t>
</a:t>
                      </a:r>
                      <a:r>
                        <a:rPr sz="1600" b="0" i="0" u="none" dirty="0">
                          <a:solidFill>
                            <a:srgbClr val="000000"/>
                          </a:solidFill>
                          <a:latin typeface="Times New Roman"/>
                        </a:rPr>
                        <a:t>Nabhan </a:t>
                      </a:r>
                      <a:r>
                        <a:rPr sz="1600" b="0" i="0" u="none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Belim</a:t>
                      </a:r>
                      <a:r>
                        <a:rPr sz="1600" b="0" i="0" u="none" dirty="0">
                          <a:solidFill>
                            <a:srgbClr val="000000"/>
                          </a:solidFill>
                          <a:latin typeface="Times New Roman"/>
                        </a:rPr>
                        <a:t> (2</a:t>
                      </a:r>
                      <a:r>
                        <a:rPr lang="en-US" sz="1600" b="0" i="0" u="none" dirty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r>
                        <a:rPr sz="1600" b="0" i="0" u="none" dirty="0">
                          <a:solidFill>
                            <a:srgbClr val="000000"/>
                          </a:solidFill>
                          <a:latin typeface="Times New Roman"/>
                        </a:rPr>
                        <a:t>BC</a:t>
                      </a:r>
                      <a:r>
                        <a:rPr lang="en-IN" sz="1600" b="0" i="0" u="none" dirty="0">
                          <a:solidFill>
                            <a:srgbClr val="000000"/>
                          </a:solidFill>
                          <a:latin typeface="Times New Roman"/>
                        </a:rPr>
                        <a:t>T0096</a:t>
                      </a:r>
                      <a:r>
                        <a:rPr sz="1600" b="0" i="0" u="none" dirty="0">
                          <a:solidFill>
                            <a:srgbClr val="000000"/>
                          </a:solidFill>
                          <a:latin typeface="Times New Roman"/>
                        </a:rPr>
                        <a:t>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513">
                <a:tc>
                  <a:txBody>
                    <a:bodyPr/>
                    <a:lstStyle/>
                    <a:p>
                      <a:pPr algn="r"/>
                      <a:r>
                        <a:rPr sz="1600" b="1" i="0" u="none" dirty="0">
                          <a:solidFill>
                            <a:srgbClr val="000000"/>
                          </a:solidFill>
                          <a:latin typeface="Times New Roman"/>
                        </a:rPr>
                        <a:t>Faculty Guide: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dirty="0">
                          <a:solidFill>
                            <a:srgbClr val="000000"/>
                          </a:solidFill>
                          <a:latin typeface="Times New Roman"/>
                        </a:rPr>
                        <a:t>Prof. Monash P.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71499" y="6515100"/>
            <a:ext cx="130578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dirty="0">
                <a:solidFill>
                  <a:srgbClr val="444444"/>
                </a:solidFill>
                <a:latin typeface="Times New Roman"/>
              </a:rPr>
              <a:t>01</a:t>
            </a:r>
            <a:r>
              <a:rPr sz="1200" b="0" i="0" u="none" dirty="0">
                <a:solidFill>
                  <a:srgbClr val="444444"/>
                </a:solidFill>
                <a:latin typeface="Times New Roman"/>
              </a:rPr>
              <a:t>-0</a:t>
            </a:r>
            <a:r>
              <a:rPr lang="en-US" sz="1200" b="0" i="0" u="none" dirty="0">
                <a:solidFill>
                  <a:srgbClr val="444444"/>
                </a:solidFill>
                <a:latin typeface="Times New Roman"/>
              </a:rPr>
              <a:t>9</a:t>
            </a:r>
            <a:r>
              <a:rPr sz="1200" b="0" i="0" u="none" dirty="0">
                <a:solidFill>
                  <a:srgbClr val="444444"/>
                </a:solidFill>
                <a:latin typeface="Times New Roman"/>
              </a:rPr>
              <a:t>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0492" y="6515100"/>
            <a:ext cx="340006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44444"/>
                </a:solidFill>
                <a:latin typeface="Times New Roman"/>
              </a:rPr>
              <a:t>SCOPE - School of Computer Science and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53825" y="6515100"/>
            <a:ext cx="66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44444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8926" y="559942"/>
            <a:ext cx="3233997" cy="790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 dirty="0">
                <a:solidFill>
                  <a:srgbClr val="003366"/>
                </a:solidFill>
                <a:latin typeface="Times New Roman"/>
              </a:rPr>
              <a:t>VIT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8926" y="1340070"/>
            <a:ext cx="323399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003366"/>
                </a:solidFill>
                <a:latin typeface="Times New Roman"/>
              </a:rPr>
              <a:t>Vellore Institute of Technology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55926" y="1692189"/>
            <a:ext cx="3079998" cy="1905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BE13-A9D6-9564-DA47-597E38E0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Mail From Guide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27C50-3ED3-2DB6-C227-6784C6CA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02-09-2026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4170-792F-28F8-1C31-5F7A8D69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6528B-72DB-0275-6A94-33ABB5CD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423CF5F-D622-927C-EBB1-E47DC45843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7277" y="1600200"/>
            <a:ext cx="7769445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560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429375"/>
            <a:ext cx="11049000" cy="2381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388977"/>
            <a:ext cx="110490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3600" b="1" i="0" u="none" dirty="0">
                <a:solidFill>
                  <a:srgbClr val="003366"/>
                </a:solidFill>
                <a:latin typeface="Times New Roman"/>
              </a:rPr>
              <a:t>Aim &amp;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923925"/>
            <a:ext cx="11049000" cy="1905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571500" y="1276350"/>
            <a:ext cx="11049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b="1" i="0" u="none">
                <a:solidFill>
                  <a:srgbClr val="003366"/>
                </a:solidFill>
                <a:latin typeface="Times New Roman"/>
              </a:rPr>
              <a:t>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499" y="1652281"/>
            <a:ext cx="11049000" cy="7534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957"/>
              </a:lnSpc>
            </a:pPr>
            <a:r>
              <a:rPr sz="1600" b="0" i="0" u="none" dirty="0">
                <a:solidFill>
                  <a:srgbClr val="111111"/>
                </a:solidFill>
                <a:latin typeface="Times New Roman"/>
              </a:rPr>
              <a:t>To design and implement an end-to-end intelligent email management system leveraging Retrieval-Augmented Generation (RAG), dense vector indexing, and Large Language Models (LLMs) to perform multi-sender summarization, semantic search, automated stream classification, contextual reply drafting, and action-item extraction without factual hallucination.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525370"/>
            <a:ext cx="11049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b="1" i="0" u="none" dirty="0">
                <a:solidFill>
                  <a:srgbClr val="003366"/>
                </a:solidFill>
                <a:latin typeface="Times New Roman"/>
              </a:rPr>
              <a:t>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499" y="6515100"/>
            <a:ext cx="1070487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lang="en-US" sz="1200" dirty="0">
                <a:solidFill>
                  <a:srgbClr val="444444"/>
                </a:solidFill>
                <a:latin typeface="Times New Roman"/>
              </a:rPr>
              <a:t>01</a:t>
            </a:r>
            <a:r>
              <a:rPr sz="1200" b="0" i="0" u="none" dirty="0">
                <a:solidFill>
                  <a:srgbClr val="444444"/>
                </a:solidFill>
                <a:latin typeface="Times New Roman"/>
              </a:rPr>
              <a:t>-0</a:t>
            </a:r>
            <a:r>
              <a:rPr lang="en-US" sz="1200" b="0" i="0" u="none" dirty="0">
                <a:solidFill>
                  <a:srgbClr val="444444"/>
                </a:solidFill>
                <a:latin typeface="Times New Roman"/>
              </a:rPr>
              <a:t>9</a:t>
            </a:r>
            <a:r>
              <a:rPr sz="1200" b="0" i="0" u="none" dirty="0">
                <a:solidFill>
                  <a:srgbClr val="444444"/>
                </a:solidFill>
                <a:latin typeface="Times New Roman"/>
              </a:rPr>
              <a:t>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66246" y="6515100"/>
            <a:ext cx="70650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200" b="0" i="0" u="none" dirty="0">
                <a:solidFill>
                  <a:srgbClr val="444444"/>
                </a:solidFill>
                <a:latin typeface="Times New Roman"/>
              </a:rPr>
              <a:t>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53825" y="6515100"/>
            <a:ext cx="6667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200" b="0" i="0" u="none">
                <a:solidFill>
                  <a:srgbClr val="444444"/>
                </a:solidFill>
                <a:latin typeface="Times New Roman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2890596"/>
            <a:ext cx="571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600" b="0" i="0" u="none" dirty="0">
                <a:solidFill>
                  <a:srgbClr val="111111"/>
                </a:solidFill>
                <a:latin typeface="Times New Roman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2890596"/>
            <a:ext cx="10763250" cy="497085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just">
              <a:lnSpc>
                <a:spcPts val="1957"/>
              </a:lnSpc>
            </a:pPr>
            <a:r>
              <a:rPr sz="1600" b="1" i="0" u="none" dirty="0">
                <a:solidFill>
                  <a:srgbClr val="111111"/>
                </a:solidFill>
                <a:latin typeface="Times New Roman"/>
              </a:rPr>
              <a:t>Data Processing &amp; Preprocessing:</a:t>
            </a:r>
            <a:r>
              <a:rPr sz="1600" b="0" i="0" u="none" dirty="0">
                <a:solidFill>
                  <a:srgbClr val="111111"/>
                </a:solidFill>
                <a:latin typeface="Times New Roman"/>
              </a:rPr>
              <a:t> Header extraction (From, To, Subject, Date), noise cleaning, deduplication, and structural normalization over enterprise corpora (Enron, Avocado, </a:t>
            </a:r>
            <a:r>
              <a:rPr sz="1600" b="0" i="0" u="none" dirty="0" err="1">
                <a:solidFill>
                  <a:srgbClr val="111111"/>
                </a:solidFill>
                <a:latin typeface="Times New Roman"/>
              </a:rPr>
              <a:t>SpamAssassin</a:t>
            </a:r>
            <a:r>
              <a:rPr sz="1600" b="0" i="0" u="none" dirty="0">
                <a:solidFill>
                  <a:srgbClr val="111111"/>
                </a:solidFill>
                <a:latin typeface="Times New Roman"/>
              </a:rPr>
              <a:t>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3503072"/>
            <a:ext cx="571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600" b="0" i="0" u="none">
                <a:solidFill>
                  <a:srgbClr val="111111"/>
                </a:solidFill>
                <a:latin typeface="Times New Roman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50" y="3502595"/>
            <a:ext cx="10763250" cy="497085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just">
              <a:lnSpc>
                <a:spcPts val="1957"/>
              </a:lnSpc>
            </a:pPr>
            <a:r>
              <a:rPr sz="1600" b="1" i="0" u="none">
                <a:solidFill>
                  <a:srgbClr val="111111"/>
                </a:solidFill>
                <a:latin typeface="Times New Roman"/>
              </a:rPr>
              <a:t>Algorithmic Pipeline:</a:t>
            </a:r>
            <a:r>
              <a:rPr sz="1600" b="0" i="0" u="none">
                <a:solidFill>
                  <a:srgbClr val="111111"/>
                </a:solidFill>
                <a:latin typeface="Times New Roman"/>
              </a:rPr>
              <a:t> Supervised classification for tri-stream email organization (Spam, General, Important), dense vector encoding via Sentence Transformers, and similarity indexing using FAISS vector stores.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4095408"/>
            <a:ext cx="571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600" b="0" i="0" u="none">
                <a:solidFill>
                  <a:srgbClr val="111111"/>
                </a:solidFill>
                <a:latin typeface="Times New Roman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4094931"/>
            <a:ext cx="10763250" cy="497085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just">
              <a:lnSpc>
                <a:spcPts val="1957"/>
              </a:lnSpc>
            </a:pPr>
            <a:r>
              <a:rPr sz="1600" b="1" i="0" u="none" dirty="0">
                <a:solidFill>
                  <a:srgbClr val="111111"/>
                </a:solidFill>
                <a:latin typeface="Times New Roman"/>
              </a:rPr>
              <a:t>Model Integration:</a:t>
            </a:r>
            <a:r>
              <a:rPr sz="1600" b="0" i="0" u="none" dirty="0">
                <a:solidFill>
                  <a:srgbClr val="111111"/>
                </a:solidFill>
                <a:latin typeface="Times New Roman"/>
              </a:rPr>
              <a:t> Integration of sequence-to-sequence abstractive models (T5, Gemini API) via </a:t>
            </a:r>
            <a:r>
              <a:rPr sz="1600" b="0" i="0" u="none" dirty="0" err="1">
                <a:solidFill>
                  <a:srgbClr val="111111"/>
                </a:solidFill>
                <a:latin typeface="Times New Roman"/>
              </a:rPr>
              <a:t>LangChain</a:t>
            </a:r>
            <a:r>
              <a:rPr sz="1600" b="0" i="0" u="none" dirty="0">
                <a:solidFill>
                  <a:srgbClr val="111111"/>
                </a:solidFill>
                <a:latin typeface="Times New Roman"/>
              </a:rPr>
              <a:t> for fact-grounded RAG query resolution, multi-sender thread summarization, contextual reply drafting, and deadline isolation.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4687743"/>
            <a:ext cx="571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600" b="0" i="0" u="none">
                <a:solidFill>
                  <a:srgbClr val="111111"/>
                </a:solidFill>
                <a:latin typeface="Times New Roman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50" y="4687267"/>
            <a:ext cx="10763250" cy="497085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just">
              <a:lnSpc>
                <a:spcPts val="1957"/>
              </a:lnSpc>
            </a:pPr>
            <a:r>
              <a:rPr sz="1600" b="1" i="0" u="none">
                <a:solidFill>
                  <a:srgbClr val="111111"/>
                </a:solidFill>
                <a:latin typeface="Times New Roman"/>
              </a:rPr>
              <a:t>Application Stack &amp; Evaluation:</a:t>
            </a:r>
            <a:r>
              <a:rPr sz="1600" b="0" i="0" u="none">
                <a:solidFill>
                  <a:srgbClr val="111111"/>
                </a:solidFill>
                <a:latin typeface="Times New Roman"/>
              </a:rPr>
              <a:t> Asynchronous FastAPI backend service, MongoDB document metadata store, and React.js interface evaluated using automated metrics (ROUGE, BLEU, BERTScore) and human faithfulness scoring.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429375"/>
            <a:ext cx="11049000" cy="2381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05262"/>
            <a:ext cx="110490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3600" b="1" i="0" u="none" dirty="0">
                <a:solidFill>
                  <a:srgbClr val="003366"/>
                </a:solidFill>
                <a:latin typeface="Times New Roman"/>
              </a:rPr>
              <a:t>Abstract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923925"/>
            <a:ext cx="11049000" cy="1905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571500" y="1181100"/>
            <a:ext cx="11049000" cy="1009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ts val="1957"/>
              </a:lnSpc>
              <a:buFont typeface="Arial" panose="020B0604020202020204" pitchFamily="34" charset="0"/>
              <a:buChar char="•"/>
            </a:pPr>
            <a:r>
              <a:rPr sz="1600" b="0" i="0" u="none" dirty="0">
                <a:solidFill>
                  <a:srgbClr val="111111"/>
                </a:solidFill>
                <a:latin typeface="Times New Roman"/>
              </a:rPr>
              <a:t>Modern enterprise communication is constrained by high volumes of unorganized workplace emails, where conventional keyword-matching search mechanisms fail to interpret contextual semantics and extract actionable insights. This project proposes an Intelligent Email Summarization and Information Retrieval System engineered to digest multi-email conversations and retrieve requested details on demand.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267171"/>
            <a:ext cx="11049000" cy="7534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ts val="1957"/>
              </a:lnSpc>
              <a:buFont typeface="Arial" panose="020B0604020202020204" pitchFamily="34" charset="0"/>
              <a:buChar char="•"/>
            </a:pPr>
            <a:r>
              <a:rPr sz="1600" b="0" i="0" u="none" dirty="0">
                <a:solidFill>
                  <a:srgbClr val="111111"/>
                </a:solidFill>
                <a:latin typeface="Times New Roman"/>
              </a:rPr>
              <a:t>The platform ingests raw email streams, executes noise removal, and categorizes messages into Spam, General, or Important streams. Content embeddings generated via Sentence Transformers are indexed in a high-performance FAISS vector database to support intent-based natural language queries.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134196"/>
            <a:ext cx="11049000" cy="15228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just">
              <a:lnSpc>
                <a:spcPts val="1957"/>
              </a:lnSpc>
              <a:buFont typeface="Arial" panose="020B0604020202020204" pitchFamily="34" charset="0"/>
              <a:buChar char="•"/>
            </a:pPr>
            <a:r>
              <a:rPr sz="1600" b="0" i="0" u="none" dirty="0">
                <a:solidFill>
                  <a:srgbClr val="111111"/>
                </a:solidFill>
                <a:latin typeface="Times New Roman"/>
              </a:rPr>
              <a:t>To eliminate synthetic model hallucinations, a Retrieval-Augmented Generation (RAG) pipeline utilizing the Gemini API and </a:t>
            </a:r>
            <a:r>
              <a:rPr sz="1600" b="0" i="0" u="none" dirty="0" err="1">
                <a:solidFill>
                  <a:srgbClr val="111111"/>
                </a:solidFill>
                <a:latin typeface="Times New Roman"/>
              </a:rPr>
              <a:t>LangChain</a:t>
            </a:r>
            <a:r>
              <a:rPr sz="1600" b="0" i="0" u="none" dirty="0">
                <a:solidFill>
                  <a:srgbClr val="111111"/>
                </a:solidFill>
                <a:latin typeface="Times New Roman"/>
              </a:rPr>
              <a:t> executes fact-grounded question answering exclusively over indexed email context. Furthermore, the system combines a BERT-based extractive ranker with an abstractive generator (T5 / Gemini) for multi-sender thread summarization, contextual draft synthesis, and action-item deadline extraction. Evaluated against the Enron (~500k emails) and Avocado (~2.5k threads) corpora using ROUGE, BLEU, </a:t>
            </a:r>
            <a:r>
              <a:rPr sz="1600" b="0" i="0" u="none" dirty="0" err="1">
                <a:solidFill>
                  <a:srgbClr val="111111"/>
                </a:solidFill>
                <a:latin typeface="Times New Roman"/>
              </a:rPr>
              <a:t>BERTScore</a:t>
            </a:r>
            <a:r>
              <a:rPr sz="1600" b="0" i="0" u="none" dirty="0">
                <a:solidFill>
                  <a:srgbClr val="111111"/>
                </a:solidFill>
                <a:latin typeface="Times New Roman"/>
              </a:rPr>
              <a:t>, and human salience assessments, the system significantly improves inbox management efficiency.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499" y="6515100"/>
            <a:ext cx="114914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lang="en-US" sz="1200" dirty="0">
                <a:solidFill>
                  <a:srgbClr val="444444"/>
                </a:solidFill>
                <a:latin typeface="Times New Roman"/>
              </a:rPr>
              <a:t>01</a:t>
            </a:r>
            <a:r>
              <a:rPr sz="1200" b="0" i="0" u="none" dirty="0">
                <a:solidFill>
                  <a:srgbClr val="444444"/>
                </a:solidFill>
                <a:latin typeface="Times New Roman"/>
              </a:rPr>
              <a:t>-0</a:t>
            </a:r>
            <a:r>
              <a:rPr lang="en-US" sz="1200" b="0" i="0" u="none" dirty="0">
                <a:solidFill>
                  <a:srgbClr val="444444"/>
                </a:solidFill>
                <a:latin typeface="Times New Roman"/>
              </a:rPr>
              <a:t>9</a:t>
            </a:r>
            <a:r>
              <a:rPr sz="1200" b="0" i="0" u="none" dirty="0">
                <a:solidFill>
                  <a:srgbClr val="444444"/>
                </a:solidFill>
                <a:latin typeface="Times New Roman"/>
              </a:rPr>
              <a:t>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66246" y="6515100"/>
            <a:ext cx="114914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200" b="0" i="0" u="none" dirty="0">
                <a:solidFill>
                  <a:srgbClr val="444444"/>
                </a:solidFill>
                <a:latin typeface="Times New Roman"/>
              </a:rPr>
              <a:t>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53825" y="6515100"/>
            <a:ext cx="6667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200" b="0" i="0" u="none">
                <a:solidFill>
                  <a:srgbClr val="444444"/>
                </a:solidFill>
                <a:latin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429375"/>
            <a:ext cx="11049000" cy="2381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379452"/>
            <a:ext cx="110490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3600" b="1" i="0" u="none" dirty="0">
                <a:solidFill>
                  <a:srgbClr val="003366"/>
                </a:solidFill>
                <a:latin typeface="Times New Roman"/>
              </a:rPr>
              <a:t>Literature Review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923925"/>
            <a:ext cx="11049000" cy="1905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240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865080"/>
              </p:ext>
            </p:extLst>
          </p:nvPr>
        </p:nvGraphicFramePr>
        <p:xfrm>
          <a:off x="571500" y="1228725"/>
          <a:ext cx="11049000" cy="46948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8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87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06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1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8733">
                <a:tc>
                  <a:txBody>
                    <a:bodyPr/>
                    <a:lstStyle/>
                    <a:p>
                      <a:pPr algn="l"/>
                      <a:r>
                        <a:rPr sz="1400" b="1" i="0" u="none" dirty="0">
                          <a:solidFill>
                            <a:srgbClr val="FFFFFF"/>
                          </a:solidFill>
                          <a:latin typeface="Times New Roman"/>
                        </a:rPr>
                        <a:t>Paper (Year)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FFFFFF"/>
                          </a:solidFill>
                          <a:latin typeface="Times New Roman"/>
                        </a:rPr>
                        <a:t>Approach / 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FFFFFF"/>
                          </a:solidFill>
                          <a:latin typeface="Times New Roman"/>
                        </a:rPr>
                        <a:t>Dataset(s)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FFFFFF"/>
                          </a:solidFill>
                          <a:latin typeface="Times New Roman"/>
                        </a:rPr>
                        <a:t>Pros / Cons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 dirty="0">
                          <a:solidFill>
                            <a:srgbClr val="FFFFFF"/>
                          </a:solidFill>
                          <a:latin typeface="Times New Roman"/>
                        </a:rPr>
                        <a:t>Key Findings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3846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</a:rPr>
                        <a:t>Tzoukermann et al. (2001)</a:t>
                      </a:r>
                      <a:r>
                        <a:rPr sz="2800"/>
                        <a:t>
</a:t>
                      </a:r>
                      <a:r>
                        <a:rPr sz="1200" b="0" i="1" u="none">
                          <a:solidFill>
                            <a:srgbClr val="000000"/>
                          </a:solidFill>
                          <a:latin typeface="Times New Roman"/>
                        </a:rPr>
                        <a:t>GIST-IT System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000000"/>
                          </a:solidFill>
                          <a:latin typeface="Times New Roman"/>
                        </a:rPr>
                        <a:t>Shallow linguistic processing + ML (TF-IDF phrase extraction &amp; classifiers).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</a:rPr>
                        <a:t>Single emails (mixed benchmark set).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000000"/>
                          </a:solidFill>
                          <a:latin typeface="Times New Roman"/>
                        </a:rPr>
                        <a:t>Pros:</a:t>
                      </a:r>
                      <a:r>
                        <a:rPr sz="1200" b="0" i="0" u="none" dirty="0">
                          <a:solidFill>
                            <a:srgbClr val="000000"/>
                          </a:solidFill>
                          <a:latin typeface="Times New Roman"/>
                        </a:rPr>
                        <a:t> Fast noun-phrase "gist"</a:t>
                      </a:r>
                      <a:r>
                        <a:rPr lang="en-IN" sz="1200" b="0" i="0" u="none" dirty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sz="1200" b="0" i="0" u="none" dirty="0">
                          <a:solidFill>
                            <a:srgbClr val="000000"/>
                          </a:solidFill>
                          <a:latin typeface="Times New Roman"/>
                        </a:rPr>
                        <a:t>extraction.</a:t>
                      </a:r>
                      <a:r>
                        <a:rPr sz="2800" dirty="0"/>
                        <a:t>
</a:t>
                      </a:r>
                      <a:r>
                        <a:rPr sz="1200" b="1" i="0" u="none" dirty="0">
                          <a:solidFill>
                            <a:srgbClr val="000000"/>
                          </a:solidFill>
                          <a:latin typeface="Times New Roman"/>
                        </a:rPr>
                        <a:t>Cons:</a:t>
                      </a:r>
                      <a:r>
                        <a:rPr sz="1200" b="0" i="0" u="none" dirty="0">
                          <a:solidFill>
                            <a:srgbClr val="000000"/>
                          </a:solidFill>
                          <a:latin typeface="Times New Roman"/>
                        </a:rPr>
                        <a:t> Lacks multi-turn thread context.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</a:rPr>
                        <a:t>Showed linguistic features + ML can achieve ~86% recall on key information extraction.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996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</a:rPr>
                        <a:t>Klimt &amp; Yang (2004)</a:t>
                      </a:r>
                      <a:r>
                        <a:rPr sz="2800"/>
                        <a:t>
</a:t>
                      </a:r>
                      <a:r>
                        <a:rPr sz="1200" b="0" i="1" u="none">
                          <a:solidFill>
                            <a:srgbClr val="000000"/>
                          </a:solidFill>
                          <a:latin typeface="Times New Roman"/>
                        </a:rPr>
                        <a:t>The Enron Corpus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</a:rPr>
                        <a:t>Data collection, structural cleaning, and corporate mail categorization.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</a:rPr>
                        <a:t>Enron corporate corpus (~500,000 messages).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</a:rPr>
                        <a:t>Pros: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</a:rPr>
                        <a:t> Reflects real workplace communications.</a:t>
                      </a:r>
                      <a:r>
                        <a:rPr sz="2800"/>
                        <a:t>
</a:t>
                      </a: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</a:rPr>
                        <a:t>Cons: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</a:rPr>
                        <a:t> Unstructured formatting requires heavy cleaning.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</a:rPr>
                        <a:t>Established the gold-standard benchmark dataset for email classification and NLP research.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3846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</a:rPr>
                        <a:t>Carenini et al. (2007)</a:t>
                      </a:r>
                      <a:r>
                        <a:rPr sz="2800"/>
                        <a:t>
</a:t>
                      </a:r>
                      <a:r>
                        <a:rPr sz="1200" b="0" i="1" u="none">
                          <a:solidFill>
                            <a:srgbClr val="000000"/>
                          </a:solidFill>
                          <a:latin typeface="Times New Roman"/>
                        </a:rPr>
                        <a:t>Thread Summarization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</a:rPr>
                        <a:t>Extractive fragment-quoting graph model for sentence selection.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</a:rPr>
                        <a:t>39 Enron email threads.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</a:rPr>
                        <a:t>Pros: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</a:rPr>
                        <a:t> Preserves exact sentence context.</a:t>
                      </a:r>
                      <a:r>
                        <a:rPr sz="2800"/>
                        <a:t>
</a:t>
                      </a: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</a:rPr>
                        <a:t>Cons: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</a:rPr>
                        <a:t> Inflexible extractive phrasing.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</a:rPr>
                        <a:t>Demonstrated feasibility of thread summarization using quotation graph models over lead baselines.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385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</a:rPr>
                        <a:t>Ulrich et al. (2008)</a:t>
                      </a:r>
                      <a:r>
                        <a:rPr sz="2800"/>
                        <a:t>
</a:t>
                      </a:r>
                      <a:r>
                        <a:rPr sz="1200" b="0" i="1" u="none">
                          <a:solidFill>
                            <a:srgbClr val="000000"/>
                          </a:solidFill>
                          <a:latin typeface="Times New Roman"/>
                        </a:rPr>
                        <a:t>Email Annotations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</a:rPr>
                        <a:t>Mixed extractive / abstractive annotation using speech act features.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</a:rPr>
                        <a:t>40 W3C email threads.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</a:rPr>
                        <a:t>Pros: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</a:rPr>
                        <a:t> First annotated email summary corpus.</a:t>
                      </a:r>
                      <a:r>
                        <a:rPr sz="2800"/>
                        <a:t>
</a:t>
                      </a: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</a:rPr>
                        <a:t>Cons: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</a:rPr>
                        <a:t> Small size limits deep model training.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000000"/>
                          </a:solidFill>
                          <a:latin typeface="Times New Roman"/>
                        </a:rPr>
                        <a:t>Showed speech acts and conversational turn structures enhance email summary quality.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71500" y="6515100"/>
            <a:ext cx="134579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lang="en-US" sz="1200" dirty="0">
                <a:solidFill>
                  <a:srgbClr val="444444"/>
                </a:solidFill>
                <a:latin typeface="Times New Roman"/>
              </a:rPr>
              <a:t>01</a:t>
            </a:r>
            <a:r>
              <a:rPr sz="1200" b="0" i="0" u="none" dirty="0">
                <a:solidFill>
                  <a:srgbClr val="444444"/>
                </a:solidFill>
                <a:latin typeface="Times New Roman"/>
              </a:rPr>
              <a:t>-0</a:t>
            </a:r>
            <a:r>
              <a:rPr lang="en-US" sz="1200" b="0" i="0" u="none" dirty="0">
                <a:solidFill>
                  <a:srgbClr val="444444"/>
                </a:solidFill>
                <a:latin typeface="Times New Roman"/>
              </a:rPr>
              <a:t>9</a:t>
            </a:r>
            <a:r>
              <a:rPr sz="1200" b="0" i="0" u="none" dirty="0">
                <a:solidFill>
                  <a:srgbClr val="444444"/>
                </a:solidFill>
                <a:latin typeface="Times New Roman"/>
              </a:rPr>
              <a:t>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66246" y="6515100"/>
            <a:ext cx="80482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200" b="0" i="0" u="none" dirty="0">
                <a:solidFill>
                  <a:srgbClr val="444444"/>
                </a:solidFill>
                <a:latin typeface="Times New Roman"/>
              </a:rPr>
              <a:t>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53825" y="6515100"/>
            <a:ext cx="6667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200" b="0" i="0" u="none">
                <a:solidFill>
                  <a:srgbClr val="444444"/>
                </a:solidFill>
                <a:latin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429375"/>
            <a:ext cx="11049000" cy="2381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379452"/>
            <a:ext cx="110490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3600" b="1" i="0" u="none" dirty="0">
                <a:solidFill>
                  <a:srgbClr val="003366"/>
                </a:solidFill>
                <a:latin typeface="Times New Roman"/>
              </a:rPr>
              <a:t>Literature Review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923925"/>
            <a:ext cx="11049000" cy="1905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200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28921"/>
              </p:ext>
            </p:extLst>
          </p:nvPr>
        </p:nvGraphicFramePr>
        <p:xfrm>
          <a:off x="571500" y="1228725"/>
          <a:ext cx="11039473" cy="4572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7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7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7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85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290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1003">
                <a:tc>
                  <a:txBody>
                    <a:bodyPr/>
                    <a:lstStyle/>
                    <a:p>
                      <a:pPr algn="l"/>
                      <a:r>
                        <a:rPr sz="1400" b="1" i="0" u="none" dirty="0">
                          <a:solidFill>
                            <a:srgbClr val="FFFFFF"/>
                          </a:solidFill>
                          <a:latin typeface="Times New Roman"/>
                        </a:rPr>
                        <a:t>Paper (Year)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FFFFFF"/>
                          </a:solidFill>
                          <a:latin typeface="Times New Roman"/>
                        </a:rPr>
                        <a:t>Approach / 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FFFFFF"/>
                          </a:solidFill>
                          <a:latin typeface="Times New Roman"/>
                        </a:rPr>
                        <a:t>Dataset(s)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FFFFFF"/>
                          </a:solidFill>
                          <a:latin typeface="Times New Roman"/>
                        </a:rPr>
                        <a:t>Pros / Cons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FFFFFF"/>
                          </a:solidFill>
                          <a:latin typeface="Times New Roman"/>
                        </a:rPr>
                        <a:t>Key Findings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1003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</a:rPr>
                        <a:t>Liu &amp; Lin (2019)</a:t>
                      </a:r>
                      <a:r>
                        <a:rPr sz="2800"/>
                        <a:t>
</a:t>
                      </a:r>
                      <a:r>
                        <a:rPr sz="1200" b="0" i="1" u="none">
                          <a:solidFill>
                            <a:srgbClr val="000000"/>
                          </a:solidFill>
                          <a:latin typeface="Times New Roman"/>
                        </a:rPr>
                        <a:t>Text Summarization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000000"/>
                          </a:solidFill>
                          <a:latin typeface="Times New Roman"/>
                        </a:rPr>
                        <a:t>Joint extractive-abstractive pipeline with pre-trained BERT encoder.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</a:rPr>
                        <a:t>CNN / DailyMail news corpus.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</a:rPr>
                        <a:t>Pros: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</a:rPr>
                        <a:t> Set SOTA across summarization benchmarks.</a:t>
                      </a:r>
                      <a:r>
                        <a:rPr sz="2800"/>
                        <a:t>
</a:t>
                      </a: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</a:rPr>
                        <a:t>Cons: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</a:rPr>
                        <a:t> Domain mismatch on informal emails.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</a:rPr>
                        <a:t>Proved pre-trained encoders (BERT) significantly boost abstractive generation quality.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1003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</a:rPr>
                        <a:t>Lewis et al. (2020)</a:t>
                      </a:r>
                      <a:r>
                        <a:rPr sz="2800"/>
                        <a:t>
</a:t>
                      </a:r>
                      <a:r>
                        <a:rPr sz="1200" b="0" i="1" u="none">
                          <a:solidFill>
                            <a:srgbClr val="000000"/>
                          </a:solidFill>
                          <a:latin typeface="Times New Roman"/>
                        </a:rPr>
                        <a:t>RAG Framework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</a:rPr>
                        <a:t>Hybrid neural model combining dense passage retrieval (DPR) with Seq2Seq.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</a:rPr>
                        <a:t>Knowledge-intensive QA benchmarks.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</a:rPr>
                        <a:t>Pros: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</a:rPr>
                        <a:t> Eliminates model hallucinations.</a:t>
                      </a:r>
                      <a:r>
                        <a:rPr sz="2800"/>
                        <a:t>
</a:t>
                      </a: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</a:rPr>
                        <a:t>Cons: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</a:rPr>
                        <a:t> Higher retrieval latency and storage.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</a:rPr>
                        <a:t>Proved RAG architectures significantly outperform pure LLMs in factual accuracy for text generation.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1003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</a:rPr>
                        <a:t>Zhao et al. (2021)</a:t>
                      </a:r>
                      <a:r>
                        <a:rPr sz="2800"/>
                        <a:t>
</a:t>
                      </a:r>
                      <a:r>
                        <a:rPr sz="1200" b="0" i="1" u="none">
                          <a:solidFill>
                            <a:srgbClr val="000000"/>
                          </a:solidFill>
                          <a:latin typeface="Times New Roman"/>
                        </a:rPr>
                        <a:t>EmailSum Benchmark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000000"/>
                          </a:solidFill>
                          <a:latin typeface="Times New Roman"/>
                        </a:rPr>
                        <a:t>Abstractive T5-based model with hierarchical thread encoding.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</a:rPr>
                        <a:t>Avocado EmailSum (2,549 email threads).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</a:rPr>
                        <a:t>Pros: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</a:rPr>
                        <a:t> Dedicated thread benchmark.</a:t>
                      </a:r>
                      <a:r>
                        <a:rPr sz="2800"/>
                        <a:t>
</a:t>
                      </a: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</a:rPr>
                        <a:t>Cons: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</a:rPr>
                        <a:t> Standard metrics correlate poorly with human scores.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</a:rPr>
                        <a:t>Found news pre-training transfers poorly to email; human evaluation is critical for faithfulness.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1007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</a:rPr>
                        <a:t>Kumar &amp; Sinha (2022)</a:t>
                      </a:r>
                      <a:r>
                        <a:rPr sz="2800"/>
                        <a:t>
</a:t>
                      </a:r>
                      <a:r>
                        <a:rPr sz="1200" b="0" i="1" u="none">
                          <a:solidFill>
                            <a:srgbClr val="000000"/>
                          </a:solidFill>
                          <a:latin typeface="Times New Roman"/>
                        </a:rPr>
                        <a:t>Domain Adaptation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</a:rPr>
                        <a:t>Transfer learning &amp; domain fine-tuning for informal email text.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</a:rPr>
                        <a:t>Multi-source email corpora.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</a:rPr>
                        <a:t>Pros: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</a:rPr>
                        <a:t> Resolves cross-domain deficits.</a:t>
                      </a:r>
                      <a:r>
                        <a:rPr sz="2800"/>
                        <a:t>
</a:t>
                      </a: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</a:rPr>
                        <a:t>Cons: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</a:rPr>
                        <a:t> Requires domain-specific fine-tuning data.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000000"/>
                          </a:solidFill>
                          <a:latin typeface="Times New Roman"/>
                        </a:rPr>
                        <a:t>Proved fine-tuning on informal email data resolves news-to-email performance transfer deficits.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71500" y="6515100"/>
            <a:ext cx="119830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lang="en-US" sz="1200" dirty="0">
                <a:solidFill>
                  <a:srgbClr val="444444"/>
                </a:solidFill>
                <a:latin typeface="Times New Roman"/>
              </a:rPr>
              <a:t>01</a:t>
            </a:r>
            <a:r>
              <a:rPr sz="1200" b="0" i="0" u="none" dirty="0">
                <a:solidFill>
                  <a:srgbClr val="444444"/>
                </a:solidFill>
                <a:latin typeface="Times New Roman"/>
              </a:rPr>
              <a:t>-0</a:t>
            </a:r>
            <a:r>
              <a:rPr lang="en-US" sz="1200" b="0" i="0" u="none" dirty="0">
                <a:solidFill>
                  <a:srgbClr val="444444"/>
                </a:solidFill>
                <a:latin typeface="Times New Roman"/>
              </a:rPr>
              <a:t>9</a:t>
            </a:r>
            <a:r>
              <a:rPr sz="1200" b="0" i="0" u="none" dirty="0">
                <a:solidFill>
                  <a:srgbClr val="444444"/>
                </a:solidFill>
                <a:latin typeface="Times New Roman"/>
              </a:rPr>
              <a:t>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66246" y="6515099"/>
            <a:ext cx="76549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200" b="0" i="0" u="none" dirty="0">
                <a:solidFill>
                  <a:srgbClr val="444444"/>
                </a:solidFill>
                <a:latin typeface="Times New Roman"/>
              </a:rPr>
              <a:t>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53825" y="6515100"/>
            <a:ext cx="6667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200" b="0" i="0" u="none" dirty="0">
                <a:solidFill>
                  <a:srgbClr val="444444"/>
                </a:solidFill>
                <a:latin typeface="Times New Roman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429375"/>
            <a:ext cx="11049000" cy="2381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376714"/>
            <a:ext cx="110490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3600" b="1" i="0" u="none" dirty="0">
                <a:solidFill>
                  <a:srgbClr val="003366"/>
                </a:solidFill>
                <a:latin typeface="Times New Roman"/>
              </a:rPr>
              <a:t>Research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923925"/>
            <a:ext cx="11049000" cy="1905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571500" y="6515100"/>
            <a:ext cx="12573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lang="en-US" sz="1200" dirty="0">
                <a:solidFill>
                  <a:srgbClr val="444444"/>
                </a:solidFill>
                <a:latin typeface="Times New Roman"/>
              </a:rPr>
              <a:t>01</a:t>
            </a:r>
            <a:r>
              <a:rPr sz="1200" b="0" i="0" u="none" dirty="0">
                <a:solidFill>
                  <a:srgbClr val="444444"/>
                </a:solidFill>
                <a:latin typeface="Times New Roman"/>
              </a:rPr>
              <a:t>-0</a:t>
            </a:r>
            <a:r>
              <a:rPr lang="en-US" sz="1200" b="0" i="0" u="none" dirty="0">
                <a:solidFill>
                  <a:srgbClr val="444444"/>
                </a:solidFill>
                <a:latin typeface="Times New Roman"/>
              </a:rPr>
              <a:t>9</a:t>
            </a:r>
            <a:r>
              <a:rPr sz="1200" b="0" i="0" u="none" dirty="0">
                <a:solidFill>
                  <a:srgbClr val="444444"/>
                </a:solidFill>
                <a:latin typeface="Times New Roman"/>
              </a:rPr>
              <a:t>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66246" y="6515100"/>
            <a:ext cx="90314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200" b="0" i="0" u="none" dirty="0">
                <a:solidFill>
                  <a:srgbClr val="444444"/>
                </a:solidFill>
                <a:latin typeface="Times New Roman"/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53825" y="6515100"/>
            <a:ext cx="6667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200" b="0" i="0" u="none">
                <a:solidFill>
                  <a:srgbClr val="444444"/>
                </a:solidFill>
                <a:latin typeface="Times New Roman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1181576"/>
            <a:ext cx="571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600" b="0" i="0" u="none">
                <a:solidFill>
                  <a:srgbClr val="111111"/>
                </a:solidFill>
                <a:latin typeface="Times New Roman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1181100"/>
            <a:ext cx="10763250" cy="497085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just">
              <a:lnSpc>
                <a:spcPts val="1957"/>
              </a:lnSpc>
            </a:pPr>
            <a:r>
              <a:rPr sz="1600" b="1" i="0" u="none" dirty="0">
                <a:solidFill>
                  <a:srgbClr val="111111"/>
                </a:solidFill>
                <a:latin typeface="Times New Roman"/>
              </a:rPr>
              <a:t>Data Scarcity &amp; Small Email Benchmarks:</a:t>
            </a:r>
            <a:r>
              <a:rPr sz="1600" b="0" i="0" u="none" dirty="0">
                <a:solidFill>
                  <a:srgbClr val="111111"/>
                </a:solidFill>
                <a:latin typeface="Times New Roman"/>
              </a:rPr>
              <a:t> Historical email corpora are tiny (39–40 threads); even newer datasets like </a:t>
            </a:r>
            <a:r>
              <a:rPr sz="1600" b="0" i="0" u="none" dirty="0" err="1">
                <a:solidFill>
                  <a:srgbClr val="111111"/>
                </a:solidFill>
                <a:latin typeface="Times New Roman"/>
              </a:rPr>
              <a:t>EmailSum</a:t>
            </a:r>
            <a:r>
              <a:rPr sz="1600" b="0" i="0" u="none" dirty="0">
                <a:solidFill>
                  <a:srgbClr val="111111"/>
                </a:solidFill>
                <a:latin typeface="Times New Roman"/>
              </a:rPr>
              <a:t> (2.5K threads) remain small relative to news corpora, constraining deep generative model training.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1773912"/>
            <a:ext cx="571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600" b="0" i="0" u="none">
                <a:solidFill>
                  <a:srgbClr val="111111"/>
                </a:solidFill>
                <a:latin typeface="Times New Roman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1773435"/>
            <a:ext cx="10763250" cy="497085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just">
              <a:lnSpc>
                <a:spcPts val="1957"/>
              </a:lnSpc>
            </a:pPr>
            <a:r>
              <a:rPr sz="1600" b="1" i="0" u="none">
                <a:solidFill>
                  <a:srgbClr val="111111"/>
                </a:solidFill>
                <a:latin typeface="Times New Roman"/>
              </a:rPr>
              <a:t>Domain Transfer Deficit:</a:t>
            </a:r>
            <a:r>
              <a:rPr sz="1600" b="0" i="0" u="none">
                <a:solidFill>
                  <a:srgbClr val="111111"/>
                </a:solidFill>
                <a:latin typeface="Times New Roman"/>
              </a:rPr>
              <a:t> Models pre-trained on formal news text (e.g., CNN/DailyMail) underperform on informal, noisy, multi-turn conversational email threads.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2366248"/>
            <a:ext cx="571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600" b="0" i="0" u="none">
                <a:solidFill>
                  <a:srgbClr val="111111"/>
                </a:solidFill>
                <a:latin typeface="Times New Roman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2365771"/>
            <a:ext cx="10763250" cy="497085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just">
              <a:lnSpc>
                <a:spcPts val="1957"/>
              </a:lnSpc>
            </a:pPr>
            <a:r>
              <a:rPr sz="1600" b="1" i="0" u="none">
                <a:solidFill>
                  <a:srgbClr val="111111"/>
                </a:solidFill>
                <a:latin typeface="Times New Roman"/>
              </a:rPr>
              <a:t>Evaluation Metric Discrepancy &amp; Hallucination:</a:t>
            </a:r>
            <a:r>
              <a:rPr sz="1600" b="0" i="0" u="none">
                <a:solidFill>
                  <a:srgbClr val="111111"/>
                </a:solidFill>
                <a:latin typeface="Times New Roman"/>
              </a:rPr>
              <a:t> Automated metrics (ROUGE, BLEU, BERTScore) correlate weakly with human satisfaction and fail to detect factual inconsistencies or abstractive model hallucinations.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2958584"/>
            <a:ext cx="571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600" b="0" i="0" u="none">
                <a:solidFill>
                  <a:srgbClr val="111111"/>
                </a:solidFill>
                <a:latin typeface="Times New Roman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" y="2958107"/>
            <a:ext cx="10763250" cy="497085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just">
              <a:lnSpc>
                <a:spcPts val="1957"/>
              </a:lnSpc>
            </a:pPr>
            <a:r>
              <a:rPr sz="1600" b="1" i="0" u="none" dirty="0">
                <a:solidFill>
                  <a:srgbClr val="111111"/>
                </a:solidFill>
                <a:latin typeface="Times New Roman"/>
              </a:rPr>
              <a:t>Unintegrated Workflow Architecture:</a:t>
            </a:r>
            <a:r>
              <a:rPr sz="1600" b="0" i="0" u="none" dirty="0">
                <a:solidFill>
                  <a:srgbClr val="111111"/>
                </a:solidFill>
                <a:latin typeface="Times New Roman"/>
              </a:rPr>
              <a:t> Existing software tools isolate spam filtering, semantic search, reply drafting, and summarization into separate applications rather than unifying retrieval and generation over shared vector indices.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429375"/>
            <a:ext cx="11049000" cy="2381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28625"/>
            <a:ext cx="110490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3600" b="1" i="0" u="none" dirty="0">
                <a:solidFill>
                  <a:srgbClr val="003366"/>
                </a:solidFill>
                <a:latin typeface="Times New Roman"/>
              </a:rPr>
              <a:t>Objectives &amp; Academic Mapping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923925"/>
            <a:ext cx="11049000" cy="1905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571500" y="1168194"/>
            <a:ext cx="11049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b="1" i="0" u="none" dirty="0">
                <a:solidFill>
                  <a:srgbClr val="003366"/>
                </a:solidFill>
                <a:latin typeface="Times New Roman"/>
              </a:rPr>
              <a:t>CORE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848301"/>
            <a:ext cx="11049000" cy="9144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742950" y="4962601"/>
            <a:ext cx="107061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800"/>
              </a:lnSpc>
            </a:pPr>
            <a:r>
              <a:rPr sz="1600" b="1" i="0" u="none" dirty="0">
                <a:solidFill>
                  <a:srgbClr val="000000"/>
                </a:solidFill>
                <a:latin typeface="Times New Roman"/>
              </a:rPr>
              <a:t>Identified SDG:</a:t>
            </a:r>
            <a:r>
              <a:rPr sz="1600" b="0" i="0" u="none" dirty="0">
                <a:solidFill>
                  <a:srgbClr val="000000"/>
                </a:solidFill>
                <a:latin typeface="Times New Roman"/>
              </a:rPr>
              <a:t> SDG 9 – Industry, Innovation, and Infrastructure (Target 9.c)</a:t>
            </a:r>
            <a:r>
              <a:rPr sz="2400" dirty="0"/>
              <a:t>
</a:t>
            </a:r>
            <a:r>
              <a:rPr sz="1600" b="1" i="0" u="none" dirty="0">
                <a:solidFill>
                  <a:srgbClr val="000000"/>
                </a:solidFill>
                <a:latin typeface="Times New Roman"/>
              </a:rPr>
              <a:t>Technology Readiness Level:</a:t>
            </a:r>
            <a:r>
              <a:rPr sz="1600" b="0" i="0" u="none" dirty="0">
                <a:solidFill>
                  <a:srgbClr val="000000"/>
                </a:solidFill>
                <a:latin typeface="Times New Roman"/>
              </a:rPr>
              <a:t> TRL 4 (Component/System Validation in Laboratory Environment)</a:t>
            </a:r>
            <a:r>
              <a:rPr sz="2400" dirty="0"/>
              <a:t>
</a:t>
            </a:r>
            <a:r>
              <a:rPr sz="1600" b="1" i="0" u="none" dirty="0">
                <a:solidFill>
                  <a:srgbClr val="000000"/>
                </a:solidFill>
                <a:latin typeface="Times New Roman"/>
              </a:rPr>
              <a:t>Expected Outcomes:</a:t>
            </a:r>
            <a:r>
              <a:rPr sz="1600" b="0" i="0" u="none" dirty="0">
                <a:solidFill>
                  <a:srgbClr val="000000"/>
                </a:solidFill>
                <a:latin typeface="Times New Roman"/>
              </a:rPr>
              <a:t> Working Software Prototype (</a:t>
            </a:r>
            <a:r>
              <a:rPr lang="en-US" sz="1600" dirty="0" err="1">
                <a:solidFill>
                  <a:srgbClr val="000000"/>
                </a:solidFill>
                <a:latin typeface="Times New Roman"/>
              </a:rPr>
              <a:t>Streamlit</a:t>
            </a:r>
            <a:r>
              <a:rPr sz="1600" b="0" i="0" u="none" dirty="0">
                <a:solidFill>
                  <a:srgbClr val="000000"/>
                </a:solidFill>
                <a:latin typeface="Times New Roman"/>
              </a:rPr>
              <a:t> + </a:t>
            </a:r>
            <a:r>
              <a:rPr sz="1600" b="0" i="0" u="none" dirty="0" err="1">
                <a:solidFill>
                  <a:srgbClr val="000000"/>
                </a:solidFill>
                <a:latin typeface="Times New Roman"/>
              </a:rPr>
              <a:t>FastAPI</a:t>
            </a:r>
            <a:r>
              <a:rPr sz="1600" b="0" i="0" u="none" dirty="0">
                <a:solidFill>
                  <a:srgbClr val="000000"/>
                </a:solidFill>
                <a:latin typeface="Times New Roman"/>
              </a:rPr>
              <a:t> + RAG framework) &amp; Scopus-Indexed Publication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4848301"/>
            <a:ext cx="38100" cy="91440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571499" y="6515100"/>
            <a:ext cx="123763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lang="en-US" sz="1200" dirty="0">
                <a:solidFill>
                  <a:srgbClr val="444444"/>
                </a:solidFill>
                <a:latin typeface="Times New Roman"/>
              </a:rPr>
              <a:t>01</a:t>
            </a:r>
            <a:r>
              <a:rPr sz="1200" b="0" i="0" u="none" dirty="0">
                <a:solidFill>
                  <a:srgbClr val="444444"/>
                </a:solidFill>
                <a:latin typeface="Times New Roman"/>
              </a:rPr>
              <a:t>-0</a:t>
            </a:r>
            <a:r>
              <a:rPr lang="en-US" sz="1200" b="0" i="0" u="none" dirty="0">
                <a:solidFill>
                  <a:srgbClr val="444444"/>
                </a:solidFill>
                <a:latin typeface="Times New Roman"/>
              </a:rPr>
              <a:t>9</a:t>
            </a:r>
            <a:r>
              <a:rPr sz="1200" b="0" i="0" u="none" dirty="0">
                <a:solidFill>
                  <a:srgbClr val="444444"/>
                </a:solidFill>
                <a:latin typeface="Times New Roman"/>
              </a:rPr>
              <a:t>-2026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66246" y="6515100"/>
            <a:ext cx="883483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200" b="0" i="0" u="none" dirty="0">
                <a:solidFill>
                  <a:srgbClr val="444444"/>
                </a:solidFill>
                <a:latin typeface="Times New Roman"/>
              </a:rPr>
              <a:t>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53825" y="6515100"/>
            <a:ext cx="6667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200" b="0" i="0" u="none">
                <a:solidFill>
                  <a:srgbClr val="444444"/>
                </a:solidFill>
                <a:latin typeface="Times New Roman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1676161"/>
            <a:ext cx="571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600" b="0" i="0" u="none" dirty="0">
                <a:solidFill>
                  <a:srgbClr val="111111"/>
                </a:solidFill>
                <a:latin typeface="Times New Roman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1660730"/>
            <a:ext cx="10763250" cy="496931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just">
              <a:lnSpc>
                <a:spcPts val="1957"/>
              </a:lnSpc>
            </a:pPr>
            <a:r>
              <a:rPr sz="1600" b="1" i="0" u="none" dirty="0">
                <a:solidFill>
                  <a:srgbClr val="111111"/>
                </a:solidFill>
                <a:latin typeface="Times New Roman"/>
              </a:rPr>
              <a:t>Dataset Curation &amp; Preprocessing:</a:t>
            </a:r>
            <a:r>
              <a:rPr sz="1600" b="0" i="0" u="none" dirty="0">
                <a:solidFill>
                  <a:srgbClr val="111111"/>
                </a:solidFill>
                <a:latin typeface="Times New Roman"/>
              </a:rPr>
              <a:t> Clean, anonymize, and preprocess large email corpora (Enron, Avocado, </a:t>
            </a:r>
            <a:r>
              <a:rPr sz="1600" b="0" i="0" u="none" dirty="0" err="1">
                <a:solidFill>
                  <a:srgbClr val="111111"/>
                </a:solidFill>
                <a:latin typeface="Times New Roman"/>
              </a:rPr>
              <a:t>SpamAssassin</a:t>
            </a:r>
            <a:r>
              <a:rPr sz="1600" b="0" i="0" u="none" dirty="0">
                <a:solidFill>
                  <a:srgbClr val="111111"/>
                </a:solidFill>
                <a:latin typeface="Times New Roman"/>
              </a:rPr>
              <a:t>) for robust model training.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2231136"/>
            <a:ext cx="571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600" b="0" i="0" u="none">
                <a:solidFill>
                  <a:srgbClr val="111111"/>
                </a:solidFill>
                <a:latin typeface="Times New Roman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" y="2230659"/>
            <a:ext cx="10763250" cy="497085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just">
              <a:lnSpc>
                <a:spcPts val="1957"/>
              </a:lnSpc>
            </a:pPr>
            <a:r>
              <a:rPr sz="1600" b="1" i="0" u="none">
                <a:solidFill>
                  <a:srgbClr val="111111"/>
                </a:solidFill>
                <a:latin typeface="Times New Roman"/>
              </a:rPr>
              <a:t>Hybrid Summarization Engine:</a:t>
            </a:r>
            <a:r>
              <a:rPr sz="1600" b="0" i="0" u="none">
                <a:solidFill>
                  <a:srgbClr val="111111"/>
                </a:solidFill>
                <a:latin typeface="Times New Roman"/>
              </a:rPr>
              <a:t> Combine extractive sentence ranking (BERT) with abstractive generation (T5 / Gemini API) to maximize coverage, conciseness, and fluency.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2823472"/>
            <a:ext cx="571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600" b="0" i="0" u="none">
                <a:solidFill>
                  <a:srgbClr val="111111"/>
                </a:solidFill>
                <a:latin typeface="Times New Roman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" y="2822995"/>
            <a:ext cx="10763250" cy="497085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just">
              <a:lnSpc>
                <a:spcPts val="1957"/>
              </a:lnSpc>
            </a:pPr>
            <a:r>
              <a:rPr sz="1600" b="1" i="0" u="none">
                <a:solidFill>
                  <a:srgbClr val="111111"/>
                </a:solidFill>
                <a:latin typeface="Times New Roman"/>
              </a:rPr>
              <a:t>Integrated Semantic IR &amp; Search:</a:t>
            </a:r>
            <a:r>
              <a:rPr sz="1600" b="0" i="0" u="none">
                <a:solidFill>
                  <a:srgbClr val="111111"/>
                </a:solidFill>
                <a:latin typeface="Times New Roman"/>
              </a:rPr>
              <a:t> Implement dense vector indexing (Sentence Transformers + FAISS) and TF-IDF search to support context-driven natural language queries.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3415808"/>
            <a:ext cx="571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600" b="0" i="0" u="none">
                <a:solidFill>
                  <a:srgbClr val="111111"/>
                </a:solidFill>
                <a:latin typeface="Times New Roman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250" y="3415331"/>
            <a:ext cx="10763250" cy="497085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just">
              <a:lnSpc>
                <a:spcPts val="1957"/>
              </a:lnSpc>
            </a:pPr>
            <a:r>
              <a:rPr sz="1600" b="1" i="0" u="none" dirty="0">
                <a:solidFill>
                  <a:srgbClr val="111111"/>
                </a:solidFill>
                <a:latin typeface="Times New Roman"/>
              </a:rPr>
              <a:t>Fact-Grounded RAG QA &amp; Evaluation:</a:t>
            </a:r>
            <a:r>
              <a:rPr sz="1600" b="0" i="0" u="none" dirty="0">
                <a:solidFill>
                  <a:srgbClr val="111111"/>
                </a:solidFill>
                <a:latin typeface="Times New Roman"/>
              </a:rPr>
              <a:t> Enforce zero-hallucination RAG query answering and evaluate using both automated metrics (ROUGE, BLEU, </a:t>
            </a:r>
            <a:r>
              <a:rPr sz="1600" b="0" i="0" u="none" dirty="0" err="1">
                <a:solidFill>
                  <a:srgbClr val="111111"/>
                </a:solidFill>
                <a:latin typeface="Times New Roman"/>
              </a:rPr>
              <a:t>BERTScore</a:t>
            </a:r>
            <a:r>
              <a:rPr sz="1600" b="0" i="0" u="none" dirty="0">
                <a:solidFill>
                  <a:srgbClr val="111111"/>
                </a:solidFill>
                <a:latin typeface="Times New Roman"/>
              </a:rPr>
              <a:t>) and human faithfulness/salience scoring.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4008144"/>
            <a:ext cx="571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600" b="0" i="0" u="none">
                <a:solidFill>
                  <a:srgbClr val="111111"/>
                </a:solidFill>
                <a:latin typeface="Times New Roman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250" y="4007667"/>
            <a:ext cx="10763250" cy="496931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just">
              <a:lnSpc>
                <a:spcPts val="1957"/>
              </a:lnSpc>
            </a:pPr>
            <a:r>
              <a:rPr sz="1600" b="1" i="0" u="none" dirty="0">
                <a:solidFill>
                  <a:srgbClr val="111111"/>
                </a:solidFill>
                <a:latin typeface="Times New Roman"/>
              </a:rPr>
              <a:t>Workflow Automation:</a:t>
            </a:r>
            <a:r>
              <a:rPr sz="1600" b="0" i="0" u="none" dirty="0">
                <a:solidFill>
                  <a:srgbClr val="111111"/>
                </a:solidFill>
                <a:latin typeface="Times New Roman"/>
              </a:rPr>
              <a:t> Automate dynamic stream categorization (Spam/General/Important), task/deadline extraction, and contextual reply drafting.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94649"/>
            <a:ext cx="5314950" cy="44661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094650"/>
            <a:ext cx="5314950" cy="445400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6477000"/>
            <a:ext cx="1097280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6562725"/>
            <a:ext cx="8737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200" b="0" i="0" u="none" dirty="0">
                <a:solidFill>
                  <a:srgbClr val="333333"/>
                </a:solidFill>
                <a:latin typeface="Calibri SemiBold"/>
              </a:rPr>
              <a:t>01-09-2026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64014" y="6562725"/>
            <a:ext cx="513011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200" b="0" i="0" u="none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10813" y="6562725"/>
            <a:ext cx="7158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200" b="0" i="0" u="none">
                <a:solidFill>
                  <a:srgbClr val="333333"/>
                </a:solidFill>
                <a:latin typeface="Calibri SemiBold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1236255"/>
            <a:ext cx="5160645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700" b="1" i="0" u="none" dirty="0">
                <a:solidFill>
                  <a:srgbClr val="002B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Offline Indexing 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625" y="1516290"/>
            <a:ext cx="4914900" cy="9525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67475" y="1236255"/>
            <a:ext cx="5160645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700" b="1" i="0" u="none" dirty="0">
                <a:solidFill>
                  <a:srgbClr val="002B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Online Grounded RAG Pipeline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67475" y="1516290"/>
            <a:ext cx="4914900" cy="9525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19175" y="1621065"/>
            <a:ext cx="4705350" cy="664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600" b="1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Gmail API Data Ingestion:</a:t>
            </a: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Securely fetches user email archives, extracting header metadata (Sender, Subject, Date) and raw payload text.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175" y="2297520"/>
            <a:ext cx="4705350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600" b="1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Cleaning &amp; Normalization:</a:t>
            </a:r>
            <a:r>
              <a:rPr sz="16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Strips HTML tags, cleans signature noise, parses timestamps into ISO format, and exports standard schemas.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175" y="2965222"/>
            <a:ext cx="4705350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600" b="1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 Chunking:</a:t>
            </a:r>
            <a:r>
              <a:rPr sz="16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Divides long bodies into 300–500 token segments while prepending Subject and Sender metadata headers.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9175" y="3622109"/>
            <a:ext cx="4705350" cy="452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600" b="1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Dense Vector Encoding:</a:t>
            </a:r>
            <a:r>
              <a:rPr sz="16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Embeds chunks into 384-dimensional dense vectors using all-MiniLM-L6-v2.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9175" y="4096136"/>
            <a:ext cx="4705350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600" b="1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FAISS Vector Store:</a:t>
            </a:r>
            <a:r>
              <a:rPr sz="16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Populates persistent </a:t>
            </a:r>
            <a:r>
              <a:rPr sz="1600" b="0" i="0" u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IndexFlatIP</a:t>
            </a:r>
            <a:r>
              <a:rPr sz="16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index housing 13,281 chunk vectors from 10,771 personal emails.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7025" y="1621065"/>
            <a:ext cx="4705350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600" b="1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Processing:</a:t>
            </a: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Analyzes natural language query intent, temporal expressions (e.g., "last week"), and target named entities.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7025" y="2288768"/>
            <a:ext cx="4705350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600" b="1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Candidate Expansion (Top-20):</a:t>
            </a:r>
            <a:r>
              <a:rPr sz="16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Executes dense vector similarity search over FAISS to retrieve initial Top-20 candidate chunks.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7025" y="2956470"/>
            <a:ext cx="4705350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600" b="1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 Deduplication:</a:t>
            </a: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Identifies and deduplicates recurring messages across multi-turn conversational email threads.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7025" y="3603853"/>
            <a:ext cx="4705350" cy="664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600" b="1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Metadata-Aware Reranker:</a:t>
            </a: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Reranks candidates using a composite score: Semantic Cosine + Subject Match + Sender Authority + Temporal Decay.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7025" y="4279651"/>
            <a:ext cx="4705350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600" b="1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Grounded LLM Generation:</a:t>
            </a:r>
            <a:r>
              <a:rPr sz="16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Passes Top-5 context into Gemini 3.5 Flash-Lite under strict evidence prompts with verified source citations.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625" y="1602015"/>
            <a:ext cx="66675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250"/>
              </a:lnSpc>
            </a:pP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625" y="2278470"/>
            <a:ext cx="66675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250"/>
              </a:lnSpc>
            </a:pPr>
            <a:r>
              <a:rPr sz="16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625" y="2946172"/>
            <a:ext cx="66675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250"/>
              </a:lnSpc>
            </a:pP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625" y="3603059"/>
            <a:ext cx="66675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250"/>
              </a:lnSpc>
            </a:pP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625" y="4077086"/>
            <a:ext cx="66675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250"/>
              </a:lnSpc>
            </a:pP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7475" y="1602015"/>
            <a:ext cx="66675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250"/>
              </a:lnSpc>
            </a:pP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7475" y="2269718"/>
            <a:ext cx="66675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250"/>
              </a:lnSpc>
            </a:pP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7475" y="2937420"/>
            <a:ext cx="66675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250"/>
              </a:lnSpc>
            </a:pP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7475" y="3584803"/>
            <a:ext cx="66675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250"/>
              </a:lnSpc>
            </a:pPr>
            <a:r>
              <a:rPr sz="16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7475" y="4260601"/>
            <a:ext cx="66675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250"/>
              </a:lnSpc>
            </a:pP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9DBA5C2-DCE7-ED6D-43AB-4B195A39808F}"/>
              </a:ext>
            </a:extLst>
          </p:cNvPr>
          <p:cNvSpPr txBox="1"/>
          <p:nvPr/>
        </p:nvSpPr>
        <p:spPr>
          <a:xfrm>
            <a:off x="579120" y="388977"/>
            <a:ext cx="110490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lang="en-US" sz="3600" b="1" i="0" u="none" dirty="0">
                <a:solidFill>
                  <a:srgbClr val="003366"/>
                </a:solidFill>
                <a:latin typeface="Times New Roman"/>
              </a:rPr>
              <a:t>Framework / Architecture / Block diagram </a:t>
            </a:r>
            <a:endParaRPr sz="3600" b="1" i="0" u="none" dirty="0">
              <a:solidFill>
                <a:srgbClr val="003366"/>
              </a:solidFill>
              <a:latin typeface="Times New Roman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79E8CD2-9B90-46BF-5069-A7426D34F739}"/>
              </a:ext>
            </a:extLst>
          </p:cNvPr>
          <p:cNvSpPr/>
          <p:nvPr/>
        </p:nvSpPr>
        <p:spPr>
          <a:xfrm>
            <a:off x="571500" y="923925"/>
            <a:ext cx="11049000" cy="1905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0431566-5197-07AD-F393-66573F962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6" t="7251" r="2218" b="6042"/>
          <a:stretch>
            <a:fillRect/>
          </a:stretch>
        </p:blipFill>
        <p:spPr bwMode="auto">
          <a:xfrm>
            <a:off x="71615" y="1930400"/>
            <a:ext cx="12048769" cy="3068320"/>
          </a:xfrm>
          <a:prstGeom prst="rect">
            <a:avLst/>
          </a:prstGeom>
          <a:noFill/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1EBD3362-B9A8-D033-625D-5DBBB53B7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477000"/>
            <a:ext cx="10972800" cy="228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8850BF-2706-278E-C66A-5C14D5E6786F}"/>
              </a:ext>
            </a:extLst>
          </p:cNvPr>
          <p:cNvSpPr txBox="1"/>
          <p:nvPr/>
        </p:nvSpPr>
        <p:spPr>
          <a:xfrm>
            <a:off x="609600" y="6562725"/>
            <a:ext cx="8737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333333"/>
                </a:solidFill>
                <a:latin typeface="Calibri SemiBold"/>
              </a:rPr>
              <a:t>01-09-2026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C3E62E-F8D9-1926-477C-E313D9E32426}"/>
              </a:ext>
            </a:extLst>
          </p:cNvPr>
          <p:cNvSpPr txBox="1"/>
          <p:nvPr/>
        </p:nvSpPr>
        <p:spPr>
          <a:xfrm>
            <a:off x="6164014" y="6562725"/>
            <a:ext cx="513011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2C792C-3DA5-A521-7792-C008F15792D3}"/>
              </a:ext>
            </a:extLst>
          </p:cNvPr>
          <p:cNvSpPr txBox="1"/>
          <p:nvPr/>
        </p:nvSpPr>
        <p:spPr>
          <a:xfrm>
            <a:off x="11510813" y="6562725"/>
            <a:ext cx="7158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Calibri SemiBold"/>
              </a:rPr>
              <a:t>9</a:t>
            </a:r>
            <a:endParaRPr sz="1200" b="0" i="0" u="none" dirty="0">
              <a:solidFill>
                <a:srgbClr val="333333"/>
              </a:solidFill>
              <a:latin typeface="Calibri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729056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66840"/>
            <a:ext cx="10972800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562725"/>
            <a:ext cx="12090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200" b="0" i="0" u="none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01-09-2026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64014" y="6562725"/>
            <a:ext cx="93782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200" b="0" i="0" u="none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endParaRPr sz="1012" b="0" i="0" u="none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15250" y="6562725"/>
            <a:ext cx="235973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lang="en-US" sz="1200" dirty="0">
                <a:solidFill>
                  <a:srgbClr val="333333"/>
                </a:solidFill>
                <a:latin typeface="Calibri SemiBold"/>
              </a:rPr>
              <a:t>10</a:t>
            </a:r>
            <a:endParaRPr sz="1200" b="0" i="0" u="none" dirty="0">
              <a:solidFill>
                <a:srgbClr val="333333"/>
              </a:solidFill>
              <a:latin typeface="Calibri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" y="1158194"/>
            <a:ext cx="5314950" cy="218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600" b="1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Ingestion &amp; Classification 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7450" y="1158194"/>
            <a:ext cx="5314950" cy="218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600" b="1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Retrieval &amp; Generation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1640669"/>
            <a:ext cx="5105400" cy="4360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600" b="1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FR1 (Email Data Ingestion):</a:t>
            </a:r>
            <a:r>
              <a:rPr sz="16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Securely ingest raw emails and header metadata from user mailboxes via Google Gmail API.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2216932"/>
            <a:ext cx="5105400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600" b="1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FR2 (Preprocessing &amp; Normalization):</a:t>
            </a: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Strip HTML, clean noise, parse ISO timestamps, and format raw text into standard schemas.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3029800"/>
            <a:ext cx="5105400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600" b="1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FR3 (Multi-Field Email Classification):</a:t>
            </a:r>
            <a:r>
              <a:rPr sz="16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Classify incoming emails into Spam, General, and Important streams using a Multi-Input </a:t>
            </a:r>
            <a:r>
              <a:rPr sz="1600" b="0" i="0" u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sz="16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network.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3870680"/>
            <a:ext cx="5105400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600" b="1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FR4 (Semantic Chunking &amp; Dense Indexing):</a:t>
            </a:r>
            <a:r>
              <a:rPr sz="16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Chunk long bodies (300–500 tokens) with metadata headers and generate 384-d FAISS indices.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0" y="1622993"/>
            <a:ext cx="5105400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600" b="1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FR5 (Semantic Search &amp; Candidate Expansion):</a:t>
            </a: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Execute natural language queries to retrieve an expanded set of Top-20 candidates.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6999" y="2453757"/>
            <a:ext cx="5105400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600" b="1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FR6 (Metadata-Aware Reranking):</a:t>
            </a: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Deduplicate thread passages and rerank candidates via semantic, subject, sender, and temporal signals.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6999" y="3280054"/>
            <a:ext cx="5105400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600" b="1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FR7 (Grounded Question Answering):</a:t>
            </a:r>
            <a:r>
              <a:rPr sz="16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Inject Top-5 reranked context into Gemini 3.5 Flash-Lite to answer questions with message ID citations.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6999" y="4095427"/>
            <a:ext cx="5105400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600" b="1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FR8 &amp; FR9 (Summarization &amp; Grounding Enforcement):</a:t>
            </a:r>
            <a:r>
              <a:rPr sz="16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Support single/group email summarization and trigger uncertainty fallback when evidence is lacking.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1621619"/>
            <a:ext cx="66675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250"/>
              </a:lnSpc>
            </a:pP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2197882"/>
            <a:ext cx="66675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250"/>
              </a:lnSpc>
            </a:pP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3010750"/>
            <a:ext cx="66675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250"/>
              </a:lnSpc>
            </a:pP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3851630"/>
            <a:ext cx="66675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250"/>
              </a:lnSpc>
            </a:pPr>
            <a:r>
              <a:rPr sz="16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7450" y="1603943"/>
            <a:ext cx="66675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250"/>
              </a:lnSpc>
            </a:pP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7449" y="2434707"/>
            <a:ext cx="66675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250"/>
              </a:lnSpc>
            </a:pP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9900" y="3238226"/>
            <a:ext cx="66675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250"/>
              </a:lnSpc>
            </a:pPr>
            <a:r>
              <a:rPr sz="16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2087" y="4066721"/>
            <a:ext cx="66675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250"/>
              </a:lnSpc>
            </a:pPr>
            <a:r>
              <a:rPr sz="16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3E17E5-BD9B-EB61-1F54-87DB0AF3BF37}"/>
              </a:ext>
            </a:extLst>
          </p:cNvPr>
          <p:cNvSpPr txBox="1"/>
          <p:nvPr/>
        </p:nvSpPr>
        <p:spPr>
          <a:xfrm>
            <a:off x="533400" y="294128"/>
            <a:ext cx="110490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lang="en-US" sz="3600" b="1" dirty="0">
                <a:solidFill>
                  <a:srgbClr val="003366"/>
                </a:solidFill>
                <a:latin typeface="Times New Roman"/>
              </a:rPr>
              <a:t>Functional Requirements</a:t>
            </a:r>
            <a:endParaRPr sz="3600" b="1" i="0" u="none" dirty="0">
              <a:solidFill>
                <a:srgbClr val="003366"/>
              </a:solidFill>
              <a:latin typeface="Times New Roman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EF4EF73-F028-1DB9-B866-48040EF0C564}"/>
              </a:ext>
            </a:extLst>
          </p:cNvPr>
          <p:cNvSpPr/>
          <p:nvPr/>
        </p:nvSpPr>
        <p:spPr>
          <a:xfrm>
            <a:off x="533400" y="789428"/>
            <a:ext cx="11049000" cy="1905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472" y="1499145"/>
            <a:ext cx="3517850" cy="36977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872" y="1499145"/>
            <a:ext cx="3517850" cy="36977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0272" y="1499145"/>
            <a:ext cx="3517999" cy="369778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6477000"/>
            <a:ext cx="109728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562725"/>
            <a:ext cx="762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200" b="0" i="0" u="none" dirty="0">
                <a:solidFill>
                  <a:srgbClr val="333333"/>
                </a:solidFill>
                <a:latin typeface="Calibri SemiBold"/>
              </a:rPr>
              <a:t>01-09-2026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8146" y="6562725"/>
            <a:ext cx="52150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200" b="0" i="0" u="none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9078" y="6562725"/>
            <a:ext cx="16584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200" b="0" i="0" u="none" dirty="0">
                <a:solidFill>
                  <a:srgbClr val="333333"/>
                </a:solidFill>
                <a:latin typeface="Calibri SemiBold"/>
              </a:rPr>
              <a:t>1</a:t>
            </a:r>
            <a:r>
              <a:rPr lang="en-US" sz="1200" b="0" i="0" u="none" dirty="0">
                <a:solidFill>
                  <a:srgbClr val="333333"/>
                </a:solidFill>
                <a:latin typeface="Calibri SemiBold"/>
              </a:rPr>
              <a:t>1</a:t>
            </a:r>
            <a:endParaRPr sz="1200" b="0" i="0" u="none" dirty="0">
              <a:solidFill>
                <a:srgbClr val="333333"/>
              </a:solidFill>
              <a:latin typeface="Calibri Semi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5497" y="1633924"/>
            <a:ext cx="327369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600" b="1" i="0" u="none" dirty="0">
                <a:solidFill>
                  <a:srgbClr val="002B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Ingestion &amp; Preprocessing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5497" y="1880145"/>
            <a:ext cx="3117800" cy="9525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92897" y="1638279"/>
            <a:ext cx="327369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600" b="1" i="0" u="none" dirty="0">
                <a:solidFill>
                  <a:srgbClr val="002B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Neural Classifier &amp; FAISS Store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92897" y="1880145"/>
            <a:ext cx="3117800" cy="9525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0297" y="1632088"/>
            <a:ext cx="327384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600" b="1" i="0" u="none" dirty="0">
                <a:solidFill>
                  <a:srgbClr val="002B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sz="1600" b="1" i="0" u="none" dirty="0" err="1">
                <a:solidFill>
                  <a:srgbClr val="002B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Reranker</a:t>
            </a:r>
            <a:r>
              <a:rPr sz="1600" b="1" i="0" u="none" dirty="0">
                <a:solidFill>
                  <a:srgbClr val="002B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Grounded RAG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0297" y="1880145"/>
            <a:ext cx="3117949" cy="9525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75047" y="1984920"/>
            <a:ext cx="2908250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600" b="1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Gmail API Connector:</a:t>
            </a:r>
            <a:r>
              <a:rPr sz="16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Secure OAuth2 authentication and payload retrieval.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5047" y="2782639"/>
            <a:ext cx="2908250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600" b="1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 Cleaner &amp; Normalizer:</a:t>
            </a:r>
            <a:r>
              <a:rPr sz="16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Strips markup, normalizes headers, and handles encodings.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5047" y="3624146"/>
            <a:ext cx="2908250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600" b="1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 </a:t>
            </a:r>
            <a:r>
              <a:rPr sz="1600" b="1" i="0" u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Chunker</a:t>
            </a:r>
            <a:r>
              <a:rPr sz="1600" b="1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6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Splits text into 300–500 token segments with metadata headers.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2447" y="1984920"/>
            <a:ext cx="2908250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600" b="1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Multi-Input BiLSTM:</a:t>
            </a: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Tri-stream neural network (Sender, Subject, Body) for 3-class triage.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2447" y="2782639"/>
            <a:ext cx="2908250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600" b="1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Sentence Embedder:</a:t>
            </a: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Converts chunks into 384-d dense vectors via SBERT.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2447" y="3595538"/>
            <a:ext cx="2908250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600" b="1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FAISS Vector Database:</a:t>
            </a:r>
            <a:r>
              <a:rPr sz="16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Persistent </a:t>
            </a:r>
            <a:r>
              <a:rPr sz="1600" b="0" i="0" u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IndexFlatIP</a:t>
            </a:r>
            <a:r>
              <a:rPr sz="16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store enabling sub-second search.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9847" y="1984920"/>
            <a:ext cx="2908399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600" b="1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Metadata Reranker:</a:t>
            </a: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Multi-signal scoring (Cosine + Sender + Subject + Time Decay).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9847" y="2787382"/>
            <a:ext cx="2908399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600" b="1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Grounded Prompt Generator:</a:t>
            </a:r>
            <a:r>
              <a:rPr sz="16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Formats Top-5 context for Gemini 3.5 Flash-Lite.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2831" y="3608894"/>
            <a:ext cx="2908399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600" b="1" i="0" u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sz="1600" b="1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UI Service:</a:t>
            </a:r>
            <a:r>
              <a:rPr sz="16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Asynchronous backend endpoints and interactive dashboard.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5497" y="1965870"/>
            <a:ext cx="66675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250"/>
              </a:lnSpc>
            </a:pP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5497" y="2763589"/>
            <a:ext cx="66675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250"/>
              </a:lnSpc>
            </a:pP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5497" y="3605096"/>
            <a:ext cx="66675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250"/>
              </a:lnSpc>
            </a:pP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2897" y="1965870"/>
            <a:ext cx="66675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250"/>
              </a:lnSpc>
            </a:pP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2897" y="2763589"/>
            <a:ext cx="66675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250"/>
              </a:lnSpc>
            </a:pP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2897" y="3576488"/>
            <a:ext cx="66675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250"/>
              </a:lnSpc>
            </a:pP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0297" y="1965870"/>
            <a:ext cx="66675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250"/>
              </a:lnSpc>
            </a:pP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0297" y="2768332"/>
            <a:ext cx="66675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250"/>
              </a:lnSpc>
            </a:pP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3281" y="3589844"/>
            <a:ext cx="66675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250"/>
              </a:lnSpc>
            </a:pP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6588684-294E-44D0-99F5-4DF9ECBABBA0}"/>
              </a:ext>
            </a:extLst>
          </p:cNvPr>
          <p:cNvSpPr txBox="1"/>
          <p:nvPr/>
        </p:nvSpPr>
        <p:spPr>
          <a:xfrm>
            <a:off x="533400" y="294128"/>
            <a:ext cx="110490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lang="en-US" sz="3600" b="1" dirty="0">
                <a:solidFill>
                  <a:srgbClr val="003366"/>
                </a:solidFill>
                <a:latin typeface="Times New Roman"/>
              </a:rPr>
              <a:t>System modules</a:t>
            </a:r>
            <a:endParaRPr sz="3600" b="1" i="0" u="none" dirty="0">
              <a:solidFill>
                <a:srgbClr val="003366"/>
              </a:solidFill>
              <a:latin typeface="Times New Roman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314B6A6-D404-3444-881A-A5E3FF95A32C}"/>
              </a:ext>
            </a:extLst>
          </p:cNvPr>
          <p:cNvSpPr/>
          <p:nvPr/>
        </p:nvSpPr>
        <p:spPr>
          <a:xfrm>
            <a:off x="533400" y="850388"/>
            <a:ext cx="11049000" cy="1905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20FB4-19A1-3B99-5914-E34B11DD7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0798B741-E838-8657-4540-93BA58320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77000"/>
            <a:ext cx="10972800" cy="228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F14E97-9C7C-0DA9-FC07-74ED80358BFA}"/>
              </a:ext>
            </a:extLst>
          </p:cNvPr>
          <p:cNvSpPr txBox="1"/>
          <p:nvPr/>
        </p:nvSpPr>
        <p:spPr>
          <a:xfrm>
            <a:off x="609600" y="6562725"/>
            <a:ext cx="8026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200" b="0" i="0" u="none" dirty="0">
                <a:solidFill>
                  <a:srgbClr val="333333"/>
                </a:solidFill>
                <a:latin typeface="Calibri SemiBold"/>
              </a:rPr>
              <a:t>01-09-2026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B13EDC-698E-D974-3EBF-41C227847DC4}"/>
              </a:ext>
            </a:extLst>
          </p:cNvPr>
          <p:cNvSpPr txBox="1"/>
          <p:nvPr/>
        </p:nvSpPr>
        <p:spPr>
          <a:xfrm>
            <a:off x="6131718" y="6562725"/>
            <a:ext cx="56372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200" b="0" i="0" u="none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846E3D-6EE1-4B33-FBF2-9C58ABBA23BF}"/>
              </a:ext>
            </a:extLst>
          </p:cNvPr>
          <p:cNvSpPr txBox="1"/>
          <p:nvPr/>
        </p:nvSpPr>
        <p:spPr>
          <a:xfrm>
            <a:off x="11439049" y="6562725"/>
            <a:ext cx="28084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200" b="0" i="0" u="none" dirty="0">
                <a:solidFill>
                  <a:srgbClr val="333333"/>
                </a:solidFill>
                <a:latin typeface="Calibri SemiBold"/>
              </a:rPr>
              <a:t>1</a:t>
            </a:r>
            <a:r>
              <a:rPr lang="en-US" sz="1200" b="0" i="0" u="none" dirty="0">
                <a:solidFill>
                  <a:srgbClr val="333333"/>
                </a:solidFill>
                <a:latin typeface="Calibri SemiBold"/>
              </a:rPr>
              <a:t>2</a:t>
            </a:r>
            <a:endParaRPr sz="1200" b="0" i="0" u="none" dirty="0">
              <a:solidFill>
                <a:srgbClr val="333333"/>
              </a:solidFill>
              <a:latin typeface="Calibri Semi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62FD92-CCCC-0C70-9CF0-EB94FF8D6D2C}"/>
              </a:ext>
            </a:extLst>
          </p:cNvPr>
          <p:cNvSpPr txBox="1"/>
          <p:nvPr/>
        </p:nvSpPr>
        <p:spPr>
          <a:xfrm>
            <a:off x="609600" y="1125130"/>
            <a:ext cx="5314950" cy="218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700" b="1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Dataset &amp; Classification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F9A90F-91D7-B49F-0B6B-3E7721890813}"/>
              </a:ext>
            </a:extLst>
          </p:cNvPr>
          <p:cNvSpPr txBox="1"/>
          <p:nvPr/>
        </p:nvSpPr>
        <p:spPr>
          <a:xfrm>
            <a:off x="609600" y="3557974"/>
            <a:ext cx="5314950" cy="218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600" b="1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Grounding &amp; Hallucination Defense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FE48DC-BB7E-E049-FA98-875CABE4EBA4}"/>
              </a:ext>
            </a:extLst>
          </p:cNvPr>
          <p:cNvSpPr txBox="1"/>
          <p:nvPr/>
        </p:nvSpPr>
        <p:spPr>
          <a:xfrm>
            <a:off x="819150" y="1453266"/>
            <a:ext cx="5105400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600" b="1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Corpus Size:</a:t>
            </a: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Ingested </a:t>
            </a:r>
            <a:r>
              <a:rPr sz="1600" b="1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10,771 unique personal academic emails</a:t>
            </a: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Gmail API, mapped to </a:t>
            </a:r>
            <a:r>
              <a:rPr sz="1600" b="1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13,281 chunked vectors</a:t>
            </a: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(384-D) in FAISS.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F282C-4746-15A7-4404-9A4F730FE7F6}"/>
              </a:ext>
            </a:extLst>
          </p:cNvPr>
          <p:cNvSpPr txBox="1"/>
          <p:nvPr/>
        </p:nvSpPr>
        <p:spPr>
          <a:xfrm>
            <a:off x="819150" y="2161609"/>
            <a:ext cx="5105400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600" b="1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Multi-Input </a:t>
            </a:r>
            <a:r>
              <a:rPr sz="1600" b="1" i="0" u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sz="1600" b="1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Accuracy:</a:t>
            </a:r>
            <a:r>
              <a:rPr sz="16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Achieved </a:t>
            </a:r>
            <a:r>
              <a:rPr sz="1600" b="1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1600" b="1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sz="1600" b="1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 accuracy</a:t>
            </a:r>
            <a:r>
              <a:rPr sz="16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across Spam, General, and Important categories using multi-field inputs.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7EC40A-6999-0245-E827-B5CB9E35EA57}"/>
              </a:ext>
            </a:extLst>
          </p:cNvPr>
          <p:cNvSpPr txBox="1"/>
          <p:nvPr/>
        </p:nvSpPr>
        <p:spPr>
          <a:xfrm>
            <a:off x="819150" y="2839471"/>
            <a:ext cx="5105400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600" b="1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Latency:</a:t>
            </a:r>
            <a:r>
              <a:rPr sz="16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Average vector retrieval + reranking executed in </a:t>
            </a:r>
            <a:r>
              <a:rPr sz="1600" b="1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180 </a:t>
            </a:r>
            <a:r>
              <a:rPr sz="1600" b="1" i="0" u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sz="16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(&lt; 250 </a:t>
            </a:r>
            <a:r>
              <a:rPr sz="1600" b="0" i="0" u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sz="16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target), enabling sub-second total response.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BFC8C7-6388-BE0C-0349-6957C52767F1}"/>
              </a:ext>
            </a:extLst>
          </p:cNvPr>
          <p:cNvSpPr txBox="1"/>
          <p:nvPr/>
        </p:nvSpPr>
        <p:spPr>
          <a:xfrm>
            <a:off x="819150" y="3836580"/>
            <a:ext cx="5105400" cy="4360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6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synthetic schedule fabrication on private academic queries.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A24C5B-0787-FBEA-01A0-3654588F5042}"/>
              </a:ext>
            </a:extLst>
          </p:cNvPr>
          <p:cNvSpPr txBox="1"/>
          <p:nvPr/>
        </p:nvSpPr>
        <p:spPr>
          <a:xfrm>
            <a:off x="819150" y="4272666"/>
            <a:ext cx="5105400" cy="4360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6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uncertainty fallback triggered when evidence is missing.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E3D028-C06A-04B4-6987-327BD335CDA2}"/>
              </a:ext>
            </a:extLst>
          </p:cNvPr>
          <p:cNvSpPr txBox="1"/>
          <p:nvPr/>
        </p:nvSpPr>
        <p:spPr>
          <a:xfrm>
            <a:off x="609600" y="1434216"/>
            <a:ext cx="66675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250"/>
              </a:lnSpc>
            </a:pP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244044-C478-C00E-9DAA-623B6A8E9BEB}"/>
              </a:ext>
            </a:extLst>
          </p:cNvPr>
          <p:cNvSpPr txBox="1"/>
          <p:nvPr/>
        </p:nvSpPr>
        <p:spPr>
          <a:xfrm>
            <a:off x="609600" y="2142559"/>
            <a:ext cx="66675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250"/>
              </a:lnSpc>
            </a:pP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B01F23-8E41-E239-C90C-473411DFB15B}"/>
              </a:ext>
            </a:extLst>
          </p:cNvPr>
          <p:cNvSpPr txBox="1"/>
          <p:nvPr/>
        </p:nvSpPr>
        <p:spPr>
          <a:xfrm>
            <a:off x="609600" y="2820421"/>
            <a:ext cx="66675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250"/>
              </a:lnSpc>
            </a:pP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B172A4-0504-36D1-0311-119C7D6B729C}"/>
              </a:ext>
            </a:extLst>
          </p:cNvPr>
          <p:cNvSpPr txBox="1"/>
          <p:nvPr/>
        </p:nvSpPr>
        <p:spPr>
          <a:xfrm>
            <a:off x="609600" y="3817530"/>
            <a:ext cx="66675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250"/>
              </a:lnSpc>
            </a:pP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0B61D8-8B76-2EC8-5587-3A9927A1E75D}"/>
              </a:ext>
            </a:extLst>
          </p:cNvPr>
          <p:cNvSpPr txBox="1"/>
          <p:nvPr/>
        </p:nvSpPr>
        <p:spPr>
          <a:xfrm>
            <a:off x="609600" y="4253616"/>
            <a:ext cx="66675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250"/>
              </a:lnSpc>
            </a:pP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876C5F-8689-8F8E-59C1-2C93A384BAD8}"/>
              </a:ext>
            </a:extLst>
          </p:cNvPr>
          <p:cNvSpPr txBox="1"/>
          <p:nvPr/>
        </p:nvSpPr>
        <p:spPr>
          <a:xfrm>
            <a:off x="533400" y="294128"/>
            <a:ext cx="110490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lang="en-US" sz="3600" b="1" dirty="0">
                <a:solidFill>
                  <a:srgbClr val="003366"/>
                </a:solidFill>
                <a:latin typeface="Times New Roman"/>
              </a:rPr>
              <a:t>Experiments and Results</a:t>
            </a:r>
            <a:endParaRPr sz="3600" b="1" i="0" u="none" dirty="0">
              <a:solidFill>
                <a:srgbClr val="003366"/>
              </a:solidFill>
              <a:latin typeface="Times New Roman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87D6516-0673-5A75-1F17-58395422EF2C}"/>
              </a:ext>
            </a:extLst>
          </p:cNvPr>
          <p:cNvSpPr/>
          <p:nvPr/>
        </p:nvSpPr>
        <p:spPr>
          <a:xfrm>
            <a:off x="533400" y="819908"/>
            <a:ext cx="11049000" cy="1905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31A93B-4EBE-FFCC-7E19-801693608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241" y="840204"/>
            <a:ext cx="4133944" cy="391691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7A50001-A316-FC65-7D4E-80597FCF5B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6709" y="4884934"/>
            <a:ext cx="3668632" cy="149496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979F82F-939A-9F66-FC48-3DE6FA4954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1051" y="4862774"/>
            <a:ext cx="3590577" cy="153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8564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13369"/>
            <a:ext cx="5314950" cy="46693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033690"/>
            <a:ext cx="5314950" cy="466933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6477000"/>
            <a:ext cx="1097280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6562725"/>
            <a:ext cx="914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200" b="0" i="0" u="none" dirty="0">
                <a:solidFill>
                  <a:srgbClr val="333333"/>
                </a:solidFill>
                <a:latin typeface="Calibri SemiBold"/>
              </a:rPr>
              <a:t>01-09-2026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8146" y="6562725"/>
            <a:ext cx="54887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200" b="0" i="0" u="none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9078" y="6562725"/>
            <a:ext cx="18904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200" b="0" i="0" u="none" dirty="0">
                <a:solidFill>
                  <a:srgbClr val="333333"/>
                </a:solidFill>
                <a:latin typeface="Calibri SemiBold"/>
              </a:rPr>
              <a:t>1</a:t>
            </a:r>
            <a:r>
              <a:rPr lang="en-US" sz="1200" b="0" i="0" u="none" dirty="0">
                <a:solidFill>
                  <a:srgbClr val="333333"/>
                </a:solidFill>
                <a:latin typeface="Calibri SemiBold"/>
              </a:rPr>
              <a:t>4</a:t>
            </a:r>
            <a:endParaRPr sz="1200" b="0" i="0" u="none" dirty="0">
              <a:solidFill>
                <a:srgbClr val="333333"/>
              </a:solidFill>
              <a:latin typeface="Calibri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9625" y="1134655"/>
            <a:ext cx="516064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b="1" i="0" u="none" dirty="0">
                <a:solidFill>
                  <a:srgbClr val="002B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2 Accomplishments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625" y="1435010"/>
            <a:ext cx="4914900" cy="9525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67475" y="1134655"/>
            <a:ext cx="516064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b="1" i="0" u="none" dirty="0">
                <a:solidFill>
                  <a:srgbClr val="002B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3 &amp; Future Scope Roadmap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67475" y="1435010"/>
            <a:ext cx="4914900" cy="9525"/>
          </a:xfrm>
          <a:prstGeom prst="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19175" y="1560105"/>
            <a:ext cx="4705350" cy="8720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600" b="1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System Integration:</a:t>
            </a:r>
            <a:r>
              <a:rPr sz="16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unified Gmail data ingestion, Multi-Input </a:t>
            </a:r>
            <a:r>
              <a:rPr sz="1600" b="0" i="0" u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sz="16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classification, 384-D FAISS vector search, and Gemini 3.5 RAG generation.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175" y="2459424"/>
            <a:ext cx="4705350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600" b="1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Superior Retrieval Performance:</a:t>
            </a: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Demonstrated that metadata-aware temporal reranking delivers an absolute </a:t>
            </a:r>
            <a:r>
              <a:rPr sz="1600" b="1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+17.2% gain in Recall@5</a:t>
            </a: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over baseline vector search.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175" y="3186023"/>
            <a:ext cx="4705350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600" b="1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 Mitigation:</a:t>
            </a:r>
            <a:r>
              <a:rPr sz="16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Implemented strict evidence grounding and uncertainty fallbacks, preventing factual fabrications across private email queries.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9175" y="3902461"/>
            <a:ext cx="4705350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600" b="1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Latency:</a:t>
            </a:r>
            <a:r>
              <a:rPr sz="16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Verified sub-200ms warm-index retrieval latency over 13,000+ personal academic vector chunks.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7025" y="1560105"/>
            <a:ext cx="4705350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600" b="1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Web Interface:</a:t>
            </a: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Finalizing responsive Streamlit and React.js dashboard for seamless user inbox interaction.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7025" y="2248128"/>
            <a:ext cx="4705350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600" b="1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 Item &amp; Deadline Extraction:</a:t>
            </a: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Integrating entity extraction to enable one-click export of exam/placement dates directly to Google Calendar.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7025" y="2954406"/>
            <a:ext cx="4705350" cy="4360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600" b="1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Evaluation &amp; Benchmark:</a:t>
            </a:r>
            <a:r>
              <a:rPr sz="16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Conducting extensive user satisfaction studies across academic cohorts.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7025" y="3510349"/>
            <a:ext cx="4705350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743"/>
              </a:lnSpc>
            </a:pPr>
            <a:r>
              <a:rPr sz="1600" b="1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Publication:</a:t>
            </a:r>
            <a:r>
              <a:rPr sz="16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Completing experimental validation for submission to a Scopus-indexed conference / journal venue.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" y="1541055"/>
            <a:ext cx="66675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250"/>
              </a:lnSpc>
            </a:pP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625" y="2440374"/>
            <a:ext cx="66675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250"/>
              </a:lnSpc>
            </a:pP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625" y="3166973"/>
            <a:ext cx="66675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250"/>
              </a:lnSpc>
            </a:pP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625" y="3883411"/>
            <a:ext cx="66675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250"/>
              </a:lnSpc>
            </a:pPr>
            <a:r>
              <a:rPr sz="16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7475" y="1541055"/>
            <a:ext cx="66675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250"/>
              </a:lnSpc>
            </a:pPr>
            <a:r>
              <a:rPr sz="1600" b="0" i="0" u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7475" y="2229078"/>
            <a:ext cx="66675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250"/>
              </a:lnSpc>
            </a:pPr>
            <a:r>
              <a:rPr sz="16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7475" y="2935356"/>
            <a:ext cx="66675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250"/>
              </a:lnSpc>
            </a:pPr>
            <a:r>
              <a:rPr sz="16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7475" y="3489960"/>
            <a:ext cx="66675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250"/>
              </a:lnSpc>
            </a:pPr>
            <a:r>
              <a:rPr sz="16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632707-22E8-2CBA-0F55-A67653EF6A83}"/>
              </a:ext>
            </a:extLst>
          </p:cNvPr>
          <p:cNvSpPr txBox="1"/>
          <p:nvPr/>
        </p:nvSpPr>
        <p:spPr>
          <a:xfrm>
            <a:off x="533400" y="294128"/>
            <a:ext cx="110490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lang="en-US" sz="3600" b="1" i="0" u="none" dirty="0">
                <a:solidFill>
                  <a:srgbClr val="003366"/>
                </a:solidFill>
                <a:latin typeface="Times New Roman"/>
              </a:rPr>
              <a:t>Conclusion &amp; Future Scope</a:t>
            </a:r>
            <a:endParaRPr sz="3600" b="1" i="0" u="none" dirty="0">
              <a:solidFill>
                <a:srgbClr val="003366"/>
              </a:solidFill>
              <a:latin typeface="Times New Roman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C6AEEDD-352D-94F7-28E7-F79ECF76B514}"/>
              </a:ext>
            </a:extLst>
          </p:cNvPr>
          <p:cNvSpPr/>
          <p:nvPr/>
        </p:nvSpPr>
        <p:spPr>
          <a:xfrm>
            <a:off x="533400" y="819908"/>
            <a:ext cx="11049000" cy="1905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860" y="6439535"/>
            <a:ext cx="11049000" cy="2381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00184"/>
            <a:ext cx="110490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3600" b="1" i="0" u="none" dirty="0">
                <a:solidFill>
                  <a:srgbClr val="003366"/>
                </a:solidFill>
                <a:latin typeface="Times New Roman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923925"/>
            <a:ext cx="11049000" cy="1905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530860" y="6525260"/>
            <a:ext cx="109015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lang="en-US" sz="1200" dirty="0">
                <a:solidFill>
                  <a:srgbClr val="444444"/>
                </a:solidFill>
                <a:latin typeface="Times New Roman"/>
              </a:rPr>
              <a:t>01</a:t>
            </a:r>
            <a:r>
              <a:rPr sz="1200" b="0" i="0" u="none" dirty="0">
                <a:solidFill>
                  <a:srgbClr val="444444"/>
                </a:solidFill>
                <a:latin typeface="Times New Roman"/>
              </a:rPr>
              <a:t>-0</a:t>
            </a:r>
            <a:r>
              <a:rPr lang="en-US" sz="1200" b="0" i="0" u="none" dirty="0">
                <a:solidFill>
                  <a:srgbClr val="444444"/>
                </a:solidFill>
                <a:latin typeface="Times New Roman"/>
              </a:rPr>
              <a:t>9</a:t>
            </a:r>
            <a:r>
              <a:rPr sz="1200" b="0" i="0" u="none" dirty="0">
                <a:solidFill>
                  <a:srgbClr val="444444"/>
                </a:solidFill>
                <a:latin typeface="Times New Roman"/>
              </a:rPr>
              <a:t>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5606" y="6525260"/>
            <a:ext cx="7851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200" b="0" i="0" u="none" dirty="0">
                <a:solidFill>
                  <a:srgbClr val="444444"/>
                </a:solidFill>
                <a:latin typeface="Times New Roman"/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5361" y="6525260"/>
            <a:ext cx="1645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lang="en-US" sz="1200" b="0" i="0" u="none" dirty="0">
                <a:solidFill>
                  <a:srgbClr val="444444"/>
                </a:solidFill>
                <a:latin typeface="Times New Roman"/>
              </a:rPr>
              <a:t>15</a:t>
            </a:r>
            <a:endParaRPr sz="1200" b="0" i="0" u="none" dirty="0">
              <a:solidFill>
                <a:srgbClr val="444444"/>
              </a:solidFill>
              <a:latin typeface="Times New Roma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0882" y="1181100"/>
            <a:ext cx="2319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600" b="0" i="0" u="none" dirty="0">
                <a:solidFill>
                  <a:srgbClr val="111111"/>
                </a:solidFill>
                <a:latin typeface="Times New Roman"/>
              </a:rPr>
              <a:t>1</a:t>
            </a:r>
            <a:r>
              <a:rPr lang="en-IN" sz="1600" b="0" i="0" u="none" dirty="0">
                <a:solidFill>
                  <a:srgbClr val="111111"/>
                </a:solidFill>
                <a:latin typeface="Times New Roman"/>
              </a:rPr>
              <a:t>.</a:t>
            </a:r>
            <a:endParaRPr sz="1600" b="0" i="0" u="none" dirty="0">
              <a:solidFill>
                <a:srgbClr val="111111"/>
              </a:solidFill>
              <a:latin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4875" y="1181100"/>
            <a:ext cx="10715625" cy="487313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just">
              <a:lnSpc>
                <a:spcPts val="1860"/>
              </a:lnSpc>
            </a:pPr>
            <a:r>
              <a:rPr sz="1600" b="0" i="0" u="none" dirty="0">
                <a:solidFill>
                  <a:srgbClr val="111111"/>
                </a:solidFill>
                <a:latin typeface="Times New Roman"/>
              </a:rPr>
              <a:t>E. </a:t>
            </a:r>
            <a:r>
              <a:rPr sz="1600" b="0" i="0" u="none" dirty="0" err="1">
                <a:solidFill>
                  <a:srgbClr val="111111"/>
                </a:solidFill>
                <a:latin typeface="Times New Roman"/>
              </a:rPr>
              <a:t>Tzoukermann</a:t>
            </a:r>
            <a:r>
              <a:rPr sz="1600" b="0" i="0" u="none" dirty="0">
                <a:solidFill>
                  <a:srgbClr val="111111"/>
                </a:solidFill>
                <a:latin typeface="Times New Roman"/>
              </a:rPr>
              <a:t>, S. Muresan, and J. </a:t>
            </a:r>
            <a:r>
              <a:rPr sz="1600" b="0" i="0" u="none" dirty="0" err="1">
                <a:solidFill>
                  <a:srgbClr val="111111"/>
                </a:solidFill>
                <a:latin typeface="Times New Roman"/>
              </a:rPr>
              <a:t>Klavans</a:t>
            </a:r>
            <a:r>
              <a:rPr sz="1600" b="0" i="0" u="none" dirty="0">
                <a:solidFill>
                  <a:srgbClr val="111111"/>
                </a:solidFill>
                <a:latin typeface="Times New Roman"/>
              </a:rPr>
              <a:t>, "GIST-IT: Summarizing email using linguistic knowledge and machine learning," in </a:t>
            </a:r>
            <a:r>
              <a:rPr sz="1600" b="0" i="1" u="none" dirty="0">
                <a:solidFill>
                  <a:srgbClr val="111111"/>
                </a:solidFill>
                <a:latin typeface="Times New Roman"/>
              </a:rPr>
              <a:t>Proc. ACL Workshop on Automatic Summarization</a:t>
            </a:r>
            <a:r>
              <a:rPr sz="1600" b="0" i="0" u="none" dirty="0">
                <a:solidFill>
                  <a:srgbClr val="111111"/>
                </a:solidFill>
                <a:latin typeface="Times New Roman"/>
              </a:rPr>
              <a:t>, 2001, pp. 1–8.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575" y="1767515"/>
            <a:ext cx="2319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600" b="0" i="0" u="none" dirty="0">
                <a:solidFill>
                  <a:srgbClr val="111111"/>
                </a:solidFill>
                <a:latin typeface="Times New Roman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875" y="1748730"/>
            <a:ext cx="10715625" cy="487313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just">
              <a:lnSpc>
                <a:spcPts val="1860"/>
              </a:lnSpc>
            </a:pPr>
            <a:r>
              <a:rPr sz="1600" b="0" i="0" u="none">
                <a:solidFill>
                  <a:srgbClr val="111111"/>
                </a:solidFill>
                <a:latin typeface="Times New Roman"/>
              </a:rPr>
              <a:t>B. Klimt and Y. Yang, "The Enron corpus: A new dataset for email analysis research," in </a:t>
            </a:r>
            <a:r>
              <a:rPr sz="1600" b="0" i="1" u="none">
                <a:solidFill>
                  <a:srgbClr val="111111"/>
                </a:solidFill>
                <a:latin typeface="Times New Roman"/>
              </a:rPr>
              <a:t>Proc. 15th European Conference on Machine Learning (ECML)</a:t>
            </a:r>
            <a:r>
              <a:rPr sz="1600" b="0" i="0" u="none">
                <a:solidFill>
                  <a:srgbClr val="111111"/>
                </a:solidFill>
                <a:latin typeface="Times New Roman"/>
              </a:rPr>
              <a:t>, Pisa, Italy, 2004, pp. 217–226.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575" y="2325439"/>
            <a:ext cx="2319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600" b="0" i="0" u="none" dirty="0">
                <a:solidFill>
                  <a:srgbClr val="111111"/>
                </a:solidFill>
                <a:latin typeface="Times New Roman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875" y="2316360"/>
            <a:ext cx="10715625" cy="487313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just">
              <a:lnSpc>
                <a:spcPts val="1860"/>
              </a:lnSpc>
            </a:pPr>
            <a:r>
              <a:rPr sz="1600" b="0" i="0" u="none">
                <a:solidFill>
                  <a:srgbClr val="111111"/>
                </a:solidFill>
                <a:latin typeface="Times New Roman"/>
              </a:rPr>
              <a:t>G. Carenini, R. Ng, and X. Zhou, "Benchmarking email thread summarization," in </a:t>
            </a:r>
            <a:r>
              <a:rPr sz="1600" b="0" i="1" u="none">
                <a:solidFill>
                  <a:srgbClr val="111111"/>
                </a:solidFill>
                <a:latin typeface="Times New Roman"/>
              </a:rPr>
              <a:t>Proc. SIGIR Enhanced Messaging Workshop</a:t>
            </a:r>
            <a:r>
              <a:rPr sz="1600" b="0" i="0" u="none">
                <a:solidFill>
                  <a:srgbClr val="111111"/>
                </a:solidFill>
                <a:latin typeface="Times New Roman"/>
              </a:rPr>
              <a:t>, 2007, pp. 45–52.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575" y="2871486"/>
            <a:ext cx="2319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600" b="0" i="0" u="none" dirty="0">
                <a:solidFill>
                  <a:srgbClr val="111111"/>
                </a:solidFill>
                <a:latin typeface="Times New Roman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875" y="2873944"/>
            <a:ext cx="10715625" cy="487313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just">
              <a:lnSpc>
                <a:spcPts val="1860"/>
              </a:lnSpc>
            </a:pPr>
            <a:r>
              <a:rPr sz="1600" b="0" i="0" u="none" dirty="0">
                <a:solidFill>
                  <a:srgbClr val="111111"/>
                </a:solidFill>
                <a:latin typeface="Times New Roman"/>
              </a:rPr>
              <a:t>Y. Liu and M. Lapata, "Text summarization with pretrained encoders," in </a:t>
            </a:r>
            <a:r>
              <a:rPr sz="1600" b="0" i="1" u="none" dirty="0">
                <a:solidFill>
                  <a:srgbClr val="111111"/>
                </a:solidFill>
                <a:latin typeface="Times New Roman"/>
              </a:rPr>
              <a:t>Proc. Conference on Empirical Methods in Natural Language Processing (EMNLP)</a:t>
            </a:r>
            <a:r>
              <a:rPr sz="1600" b="0" i="0" u="none" dirty="0">
                <a:solidFill>
                  <a:srgbClr val="111111"/>
                </a:solidFill>
                <a:latin typeface="Times New Roman"/>
              </a:rPr>
              <a:t>, Hong Kong, 2019, pp. 3730–3740.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882" y="3459741"/>
            <a:ext cx="2319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600" b="0" i="0" u="none" dirty="0">
                <a:solidFill>
                  <a:srgbClr val="111111"/>
                </a:solidFill>
                <a:latin typeface="Times New Roman"/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875" y="3461238"/>
            <a:ext cx="10715625" cy="487313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just">
              <a:lnSpc>
                <a:spcPts val="1860"/>
              </a:lnSpc>
            </a:pPr>
            <a:r>
              <a:rPr sz="1600" b="0" i="0" u="none" dirty="0">
                <a:solidFill>
                  <a:srgbClr val="111111"/>
                </a:solidFill>
                <a:latin typeface="Times New Roman"/>
              </a:rPr>
              <a:t>P. Lewis et al., "Retrieval-augmented generation for knowledge-intensive NLP tasks," in </a:t>
            </a:r>
            <a:r>
              <a:rPr sz="1600" b="0" i="1" u="none" dirty="0">
                <a:solidFill>
                  <a:srgbClr val="111111"/>
                </a:solidFill>
                <a:latin typeface="Times New Roman"/>
              </a:rPr>
              <a:t>Advances in Neural Information Processing Systems (</a:t>
            </a:r>
            <a:r>
              <a:rPr sz="1600" b="0" i="1" u="none" dirty="0" err="1">
                <a:solidFill>
                  <a:srgbClr val="111111"/>
                </a:solidFill>
                <a:latin typeface="Times New Roman"/>
              </a:rPr>
              <a:t>NeurIPS</a:t>
            </a:r>
            <a:r>
              <a:rPr sz="1600" b="0" i="1" u="none" dirty="0">
                <a:solidFill>
                  <a:srgbClr val="111111"/>
                </a:solidFill>
                <a:latin typeface="Times New Roman"/>
              </a:rPr>
              <a:t>)</a:t>
            </a:r>
            <a:r>
              <a:rPr sz="1600" b="0" i="0" u="none" dirty="0">
                <a:solidFill>
                  <a:srgbClr val="111111"/>
                </a:solidFill>
                <a:latin typeface="Times New Roman"/>
              </a:rPr>
              <a:t>, vol. 33, 2020, pp. 9459–9474.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575" y="4048121"/>
            <a:ext cx="2319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600" b="0" i="0" u="none">
                <a:solidFill>
                  <a:srgbClr val="111111"/>
                </a:solidFill>
                <a:latin typeface="Times New Roman"/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875" y="4048533"/>
            <a:ext cx="10715625" cy="487313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just">
              <a:lnSpc>
                <a:spcPts val="1860"/>
              </a:lnSpc>
            </a:pPr>
            <a:r>
              <a:rPr sz="1600" b="0" i="0" u="none" dirty="0">
                <a:solidFill>
                  <a:srgbClr val="111111"/>
                </a:solidFill>
                <a:latin typeface="Times New Roman"/>
              </a:rPr>
              <a:t>S. Zhao, M. Liu, and L. Wang, "</a:t>
            </a:r>
            <a:r>
              <a:rPr sz="1600" b="0" i="0" u="none" dirty="0" err="1">
                <a:solidFill>
                  <a:srgbClr val="111111"/>
                </a:solidFill>
                <a:latin typeface="Times New Roman"/>
              </a:rPr>
              <a:t>EmailSum</a:t>
            </a:r>
            <a:r>
              <a:rPr sz="1600" b="0" i="0" u="none" dirty="0">
                <a:solidFill>
                  <a:srgbClr val="111111"/>
                </a:solidFill>
                <a:latin typeface="Times New Roman"/>
              </a:rPr>
              <a:t>: Abstractive email thread summarization," in </a:t>
            </a:r>
            <a:r>
              <a:rPr sz="1600" b="0" i="1" u="none" dirty="0">
                <a:solidFill>
                  <a:srgbClr val="111111"/>
                </a:solidFill>
                <a:latin typeface="Times New Roman"/>
              </a:rPr>
              <a:t>Proc. Association for Computational Linguistics (ACL)</a:t>
            </a:r>
            <a:r>
              <a:rPr sz="1600" b="0" i="0" u="none" dirty="0">
                <a:solidFill>
                  <a:srgbClr val="111111"/>
                </a:solidFill>
                <a:latin typeface="Times New Roman"/>
              </a:rPr>
              <a:t>, 2021, pp. 6896–6909.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882" y="4625782"/>
            <a:ext cx="2319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600" b="0" i="0" u="none" dirty="0">
                <a:solidFill>
                  <a:srgbClr val="111111"/>
                </a:solidFill>
                <a:latin typeface="Times New Roman"/>
              </a:rPr>
              <a:t>7.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875" y="4625782"/>
            <a:ext cx="10715625" cy="487313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just">
              <a:lnSpc>
                <a:spcPts val="1860"/>
              </a:lnSpc>
            </a:pPr>
            <a:r>
              <a:rPr sz="1600" b="0" i="0" u="none" dirty="0">
                <a:solidFill>
                  <a:srgbClr val="111111"/>
                </a:solidFill>
                <a:latin typeface="Times New Roman"/>
              </a:rPr>
              <a:t>S. Kumar and A. Sinha, "Domain adaptation for email summarization," in *Proc. International Conference on Computational Linguistics and Natural Language Processing (CLNPL)*, 2022, pp. 1610–1614.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2472</Words>
  <Application>Microsoft Office PowerPoint</Application>
  <PresentationFormat>Widescreen</PresentationFormat>
  <Paragraphs>258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SemiBold</vt:lpstr>
      <vt:lpstr>Times New Roman</vt:lpstr>
      <vt:lpstr>Office Theme</vt:lpstr>
      <vt:lpstr>PowerPoint Presentation</vt:lpstr>
      <vt:lpstr>Approval Mail From Guide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Amil</dc:creator>
  <cp:keywords/>
  <dc:description>generated using python-pptx</dc:description>
  <cp:lastModifiedBy>Nayan Sharma</cp:lastModifiedBy>
  <cp:revision>19</cp:revision>
  <dcterms:created xsi:type="dcterms:W3CDTF">2013-01-27T09:14:16Z</dcterms:created>
  <dcterms:modified xsi:type="dcterms:W3CDTF">2026-09-02T05:43:14Z</dcterms:modified>
  <cp:category/>
</cp:coreProperties>
</file>